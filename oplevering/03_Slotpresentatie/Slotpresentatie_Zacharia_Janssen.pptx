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6439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Welkom. Stel jezelf kort voor en geef de titel van het project. Rustig starten.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Patronale Life is een verzekeraar; hun documenten moeten juridisch correct en up to date zijn. Ik werkte solo, met Eduardo voor de richting, Erwin voor de technische inhoud, Dirk vanuit VIVES.  Vermeld kort de grootte van de organisatie (aantal medewerkers en/of premie-inkomen); vul je eigen cijfers in, jij kent ze.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Een zin: de templates waren oud, gedupliceerd en moeilijk te beheren. Het doel was moderniseren en de wijzigingsflow automatiseren. Laat deze slide even staan, dit is de kern.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compliance-risico is voor een verzekeraar het belangrijkste. Duplicatie betekende dat een juridische wijziging op tien plaatsen moest, met kans op fouten. Mijn oplossing maakt er 1 plaats van.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Samenvatting van vier sprints. Niet alles opnoemen, de lijn tonen: overzicht, migreren, consolideren, automatiseren, kwaliteit borgen. Wijs naar de repo-screenshot.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Een visuele adempauze met de cijfers. Niet alle voorlezen, een paar uitlichten: 23 productlijnen in kaart, 202 templates die de CI bewaakt, 115 fondsfiches die ik liet genereren.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Belangrijk: ik werkte niet in isolatie. Elke sprint een demo en een mail. Het Boutique_44-voorbeeld toont dat ik aannames eerst aftoetste.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Leg de waarom uit, niet alleen de wat. Jinja sluit aan bij de bestaande renderer, GitHub Actions zet de automatisering bij de code, JIRA omdat het team daar al werkt.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Vier sprints, klassieke Scrum-ceremonies. Loop de tijdslijn kort af van fundament naar release. Vermeld dat de planning de Belgische werkweek en feestdagen volgt.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Schakel naar de demo. Vertel het als een verhaal vanuit Peter, niet als een opsomming. Adem, vertraag, neem het publiek mee.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Stel Peter voor als de eindgebruiker van de flow. Het contrast vroeger/nu maakt de meerwaarde voelbaar. Toon de echte JIRA-ticket screenshot rechts.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kern van de demo. Loop de vijf stappen rustig af, idealiter met JIRA en GitHub naast elkaar. Benadruk stap 3 (1 base ipv tien) en stap 4 (de CI ving echt mijn eigen fouten).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Twee tastbare resultaten: links de groene CI, rechts de digest-mail in Outlook. Toon dat de mail ook in Outlook desktop netjes rendert.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Persoonlijk brengen. Sterkste anekdote: mijn eigen CI ving twee fouten in mijn generator in dezelfde sprint. En de bewuste keuze om de attachment monitor niet zomaar live te zetten.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Eerlijk over wat er nog ligt. Toont dat het project verder leeft na mijn stage. De handover is het vertrekpunt.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Sluit af met dank aan Patronale Life, Eduardo, Erwin en Dirk. Nodig uit tot vragen. Blijf rustig, je kent het project beter dan wie ook in de zaal.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411480" cy="685800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515600" cy="1828800"/>
          </a:xfrm>
          <a:prstGeom prst="rect">
            <a:avLst/>
          </a:prstGeom>
          <a:noFill/>
        </p:spPr>
        <p:txBody>
          <a:bodyPr wrap="none">
            <a:spAutoFit/>
          </a:bodyPr>
          <a:lstStyle/>
          <a:p>
            <a:pPr algn="l"/>
            <a:r>
              <a:rPr sz="4000" b="1">
                <a:solidFill>
                  <a:srgbClr val="E30613"/>
                </a:solidFill>
              </a:rPr>
              <a:t>Templating &amp; Compliance</a:t>
            </a:r>
          </a:p>
          <a:p>
            <a:pPr algn="l"/>
            <a:r>
              <a:rPr sz="2200" b="0">
                <a:solidFill>
                  <a:srgbClr val="2B2B2B"/>
                </a:solidFill>
              </a:rPr>
              <a:t>Modernisering van de vFinance documenttemplates</a:t>
            </a:r>
          </a:p>
        </p:txBody>
      </p:sp>
      <p:sp>
        <p:nvSpPr>
          <p:cNvPr id="5" name="TextBox 4"/>
          <p:cNvSpPr txBox="1"/>
          <p:nvPr/>
        </p:nvSpPr>
        <p:spPr>
          <a:xfrm>
            <a:off x="914400" y="3931920"/>
            <a:ext cx="10515600" cy="2468880"/>
          </a:xfrm>
          <a:prstGeom prst="rect">
            <a:avLst/>
          </a:prstGeom>
          <a:noFill/>
        </p:spPr>
        <p:txBody>
          <a:bodyPr wrap="square">
            <a:spAutoFit/>
          </a:bodyPr>
          <a:lstStyle/>
          <a:p>
            <a:r>
              <a:rPr sz="1300" b="1">
                <a:solidFill>
                  <a:srgbClr val="666666"/>
                </a:solidFill>
              </a:rPr>
              <a:t>Student:  </a:t>
            </a:r>
            <a:r>
              <a:rPr sz="1300">
                <a:solidFill>
                  <a:srgbClr val="2B2B2B"/>
                </a:solidFill>
              </a:rPr>
              <a:t>Zacharia Janssen</a:t>
            </a:r>
          </a:p>
          <a:p>
            <a:r>
              <a:rPr sz="1300" b="1">
                <a:solidFill>
                  <a:srgbClr val="666666"/>
                </a:solidFill>
              </a:rPr>
              <a:t>Opleiding:  </a:t>
            </a:r>
            <a:r>
              <a:rPr sz="1300">
                <a:solidFill>
                  <a:srgbClr val="2B2B2B"/>
                </a:solidFill>
              </a:rPr>
              <a:t>Bachelor Toegepaste Informatica - VIVES (afstandsonderwijs)</a:t>
            </a:r>
          </a:p>
          <a:p>
            <a:r>
              <a:rPr sz="1300" b="1">
                <a:solidFill>
                  <a:srgbClr val="666666"/>
                </a:solidFill>
              </a:rPr>
              <a:t>Vak:  </a:t>
            </a:r>
            <a:r>
              <a:rPr sz="1300">
                <a:solidFill>
                  <a:srgbClr val="2B2B2B"/>
                </a:solidFill>
              </a:rPr>
              <a:t>IT-Project 1</a:t>
            </a:r>
          </a:p>
          <a:p>
            <a:r>
              <a:rPr sz="1300" b="1">
                <a:solidFill>
                  <a:srgbClr val="666666"/>
                </a:solidFill>
              </a:rPr>
              <a:t>Opdrachtgever:  </a:t>
            </a:r>
            <a:r>
              <a:rPr sz="1300">
                <a:solidFill>
                  <a:srgbClr val="2B2B2B"/>
                </a:solidFill>
              </a:rPr>
              <a:t>Patronale Life NV</a:t>
            </a:r>
          </a:p>
          <a:p>
            <a:r>
              <a:rPr sz="1300" b="1">
                <a:solidFill>
                  <a:srgbClr val="666666"/>
                </a:solidFill>
              </a:rPr>
              <a:t>Mentoren:  </a:t>
            </a:r>
            <a:r>
              <a:rPr sz="1300">
                <a:solidFill>
                  <a:srgbClr val="2B2B2B"/>
                </a:solidFill>
              </a:rPr>
              <a:t>Eduardo de Almeida Raposo, Erwin Geeraerts</a:t>
            </a:r>
          </a:p>
          <a:p>
            <a:r>
              <a:rPr sz="1300" b="1">
                <a:solidFill>
                  <a:srgbClr val="666666"/>
                </a:solidFill>
              </a:rPr>
              <a:t>Coach:  </a:t>
            </a:r>
            <a:r>
              <a:rPr sz="1300">
                <a:solidFill>
                  <a:srgbClr val="2B2B2B"/>
                </a:solidFill>
              </a:rPr>
              <a:t>Dirk Hostens</a:t>
            </a:r>
          </a:p>
          <a:p>
            <a:r>
              <a:rPr sz="1300" b="1">
                <a:solidFill>
                  <a:srgbClr val="666666"/>
                </a:solidFill>
              </a:rPr>
              <a:t>Academiejaar:  </a:t>
            </a:r>
            <a:r>
              <a:rPr sz="1300">
                <a:solidFill>
                  <a:srgbClr val="2B2B2B"/>
                </a:solidFill>
              </a:rPr>
              <a:t>2025-2026</a:t>
            </a:r>
          </a:p>
        </p:txBody>
      </p:sp>
      <p:pic>
        <p:nvPicPr>
          <p:cNvPr id="6" name="Picture 5" descr="Logo VIVES | Hogeschool VIVES">
            <a:extLst>
              <a:ext uri="{FF2B5EF4-FFF2-40B4-BE49-F238E27FC236}">
                <a16:creationId xmlns:a16="http://schemas.microsoft.com/office/drawing/2014/main" id="{754C57F1-46F7-CEB4-2930-80FE82839606}"/>
              </a:ext>
            </a:extLst>
          </p:cNvPr>
          <p:cNvPicPr>
            <a:picLocks noChangeAspect="1"/>
          </p:cNvPicPr>
          <p:nvPr/>
        </p:nvPicPr>
        <p:blipFill>
          <a:blip r:embed="rId3"/>
          <a:stretch>
            <a:fillRect/>
          </a:stretch>
        </p:blipFill>
        <p:spPr>
          <a:xfrm>
            <a:off x="9628632" y="73152"/>
            <a:ext cx="1956816" cy="19568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0" rtlCol="0" anchor="ctr"/>
          <a:lstStyle/>
          <a:p>
            <a:pPr algn="l"/>
            <a:r>
              <a:rPr sz="2600" b="1">
                <a:solidFill>
                  <a:srgbClr val="FFFFFF"/>
                </a:solidFill>
              </a:rPr>
              <a:t>De opdrachtgever</a:t>
            </a:r>
          </a:p>
        </p:txBody>
      </p:sp>
      <p:sp>
        <p:nvSpPr>
          <p:cNvPr id="3" name="TextBox 2"/>
          <p:cNvSpPr txBox="1"/>
          <p:nvPr/>
        </p:nvSpPr>
        <p:spPr>
          <a:xfrm>
            <a:off x="640080" y="1280160"/>
            <a:ext cx="6400800" cy="4937760"/>
          </a:xfrm>
          <a:prstGeom prst="rect">
            <a:avLst/>
          </a:prstGeom>
          <a:noFill/>
        </p:spPr>
        <p:txBody>
          <a:bodyPr wrap="square">
            <a:spAutoFit/>
          </a:bodyPr>
          <a:lstStyle/>
          <a:p>
            <a:pPr>
              <a:spcAft>
                <a:spcPts val="600"/>
              </a:spcAft>
            </a:pPr>
            <a:r>
              <a:rPr sz="1900" b="1">
                <a:solidFill>
                  <a:srgbClr val="2B2B2B"/>
                </a:solidFill>
              </a:rPr>
              <a:t>Patronale Life NV</a:t>
            </a:r>
          </a:p>
          <a:p>
            <a:pPr lvl="1">
              <a:spcAft>
                <a:spcPts val="600"/>
              </a:spcAft>
            </a:pPr>
            <a:r>
              <a:rPr sz="1700">
                <a:solidFill>
                  <a:srgbClr val="666666"/>
                </a:solidFill>
              </a:rPr>
              <a:t>-  Belgische levensverzekeraar, gevestigd in Brussel</a:t>
            </a:r>
          </a:p>
          <a:p>
            <a:pPr lvl="1">
              <a:spcAft>
                <a:spcPts val="600"/>
              </a:spcAft>
            </a:pPr>
            <a:r>
              <a:rPr sz="1700">
                <a:solidFill>
                  <a:srgbClr val="666666"/>
                </a:solidFill>
              </a:rPr>
              <a:t>-  Tak 21, 23 en 44, kredietverzekering en hypothecair krediet</a:t>
            </a:r>
          </a:p>
          <a:p>
            <a:pPr lvl="1">
              <a:spcAft>
                <a:spcPts val="600"/>
              </a:spcAft>
            </a:pPr>
            <a:r>
              <a:rPr sz="1700">
                <a:solidFill>
                  <a:srgbClr val="666666"/>
                </a:solidFill>
              </a:rPr>
              <a:t>-  Documenten worden gegenereerd via vFinance</a:t>
            </a:r>
          </a:p>
          <a:p>
            <a:pPr lvl="1">
              <a:spcAft>
                <a:spcPts val="600"/>
              </a:spcAft>
            </a:pPr>
            <a:r>
              <a:rPr sz="1700">
                <a:solidFill>
                  <a:srgbClr val="666666"/>
                </a:solidFill>
              </a:rPr>
              <a:t>-  Middelgrote speler, actief op de Belgische markt</a:t>
            </a:r>
          </a:p>
          <a:p>
            <a:pPr>
              <a:spcAft>
                <a:spcPts val="600"/>
              </a:spcAft>
            </a:pPr>
            <a:r>
              <a:rPr sz="1900" b="1">
                <a:solidFill>
                  <a:srgbClr val="2B2B2B"/>
                </a:solidFill>
              </a:rPr>
              <a:t>Mijn contactpersonen</a:t>
            </a:r>
          </a:p>
          <a:p>
            <a:pPr lvl="1">
              <a:spcAft>
                <a:spcPts val="600"/>
              </a:spcAft>
            </a:pPr>
            <a:r>
              <a:rPr sz="1700">
                <a:solidFill>
                  <a:srgbClr val="666666"/>
                </a:solidFill>
              </a:rPr>
              <a:t>-  Eduardo de Almeida Raposo - Digital Transformation Manager</a:t>
            </a:r>
          </a:p>
          <a:p>
            <a:pPr lvl="1">
              <a:spcAft>
                <a:spcPts val="600"/>
              </a:spcAft>
            </a:pPr>
            <a:r>
              <a:rPr sz="1700">
                <a:solidFill>
                  <a:srgbClr val="666666"/>
                </a:solidFill>
              </a:rPr>
              <a:t>-  Erwin Geeraerts - Business Analyst vFinance</a:t>
            </a:r>
          </a:p>
          <a:p>
            <a:pPr lvl="1">
              <a:spcAft>
                <a:spcPts val="600"/>
              </a:spcAft>
            </a:pPr>
            <a:r>
              <a:rPr sz="1700">
                <a:solidFill>
                  <a:srgbClr val="666666"/>
                </a:solidFill>
              </a:rPr>
              <a:t>-  Dirk Hostens - stagebegeleider VIVES</a:t>
            </a:r>
          </a:p>
        </p:txBody>
      </p:sp>
      <p:sp>
        <p:nvSpPr>
          <p:cNvPr id="4" name="TextBox 3"/>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pic>
        <p:nvPicPr>
          <p:cNvPr id="8" name="Picture 7" descr="Patronale Life verhoogt rentevoeten op TAK21 - Spaargids.be">
            <a:extLst>
              <a:ext uri="{FF2B5EF4-FFF2-40B4-BE49-F238E27FC236}">
                <a16:creationId xmlns:a16="http://schemas.microsoft.com/office/drawing/2014/main" id="{04D9801E-636B-FFC7-E5D7-855A09889C05}"/>
              </a:ext>
            </a:extLst>
          </p:cNvPr>
          <p:cNvPicPr>
            <a:picLocks noChangeAspect="1"/>
          </p:cNvPicPr>
          <p:nvPr/>
        </p:nvPicPr>
        <p:blipFill>
          <a:blip r:embed="rId3"/>
          <a:stretch>
            <a:fillRect/>
          </a:stretch>
        </p:blipFill>
        <p:spPr>
          <a:xfrm>
            <a:off x="7946136" y="2706624"/>
            <a:ext cx="3127248" cy="20848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Wat - het doel</a:t>
            </a:r>
          </a:p>
        </p:txBody>
      </p:sp>
      <p:sp>
        <p:nvSpPr>
          <p:cNvPr id="4" name="TextBox 3"/>
          <p:cNvSpPr txBox="1"/>
          <p:nvPr/>
        </p:nvSpPr>
        <p:spPr>
          <a:xfrm>
            <a:off x="1097280" y="2377440"/>
            <a:ext cx="10058400" cy="2286000"/>
          </a:xfrm>
          <a:prstGeom prst="rect">
            <a:avLst/>
          </a:prstGeom>
          <a:noFill/>
        </p:spPr>
        <p:txBody>
          <a:bodyPr wrap="none">
            <a:spAutoFit/>
          </a:bodyPr>
          <a:lstStyle/>
          <a:p>
            <a:pPr algn="l"/>
            <a:r>
              <a:rPr sz="2800" b="1">
                <a:solidFill>
                  <a:srgbClr val="2B2B2B"/>
                </a:solidFill>
              </a:rPr>
              <a:t>Het beheer van de vFinance documenttemplates</a:t>
            </a:r>
          </a:p>
          <a:p>
            <a:pPr algn="l"/>
            <a:r>
              <a:rPr sz="2800" b="1">
                <a:solidFill>
                  <a:srgbClr val="E30613"/>
                </a:solidFill>
              </a:rPr>
              <a:t>moderniseren en de wijzigingsflow automatiseren.</a:t>
            </a:r>
          </a:p>
        </p:txBody>
      </p:sp>
      <p:sp>
        <p:nvSpPr>
          <p:cNvPr id="5" name="TextBox 4"/>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Waarom - probleem en meerwaarde</a:t>
            </a:r>
          </a:p>
        </p:txBody>
      </p:sp>
      <p:sp>
        <p:nvSpPr>
          <p:cNvPr id="4" name="Rounded Rectangle 3"/>
          <p:cNvSpPr/>
          <p:nvPr/>
        </p:nvSpPr>
        <p:spPr>
          <a:xfrm>
            <a:off x="640080" y="1371600"/>
            <a:ext cx="5394960" cy="4754880"/>
          </a:xfrm>
          <a:prstGeom prst="roundRect">
            <a:avLst/>
          </a:prstGeom>
          <a:solidFill>
            <a:srgbClr val="FBECEC"/>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l"/>
            <a:r>
              <a:rPr sz="1800" b="1">
                <a:solidFill>
                  <a:srgbClr val="E30613"/>
                </a:solidFill>
              </a:rPr>
              <a:t>Het probleem</a:t>
            </a:r>
          </a:p>
          <a:p>
            <a:pPr algn="l"/>
            <a:r>
              <a:rPr sz="1300" b="0">
                <a:solidFill>
                  <a:srgbClr val="2B2B2B"/>
                </a:solidFill>
              </a:rPr>
              <a:t>Compliance-risico: verouderde juridische tekst</a:t>
            </a:r>
          </a:p>
          <a:p>
            <a:pPr algn="l"/>
            <a:r>
              <a:rPr sz="1300" b="0">
                <a:solidFill>
                  <a:srgbClr val="2B2B2B"/>
                </a:solidFill>
              </a:rPr>
              <a:t>Duplicatie: elke SKM een eigen kopie</a:t>
            </a:r>
          </a:p>
          <a:p>
            <a:pPr algn="l"/>
            <a:r>
              <a:rPr sz="1300" b="0">
                <a:solidFill>
                  <a:srgbClr val="2B2B2B"/>
                </a:solidFill>
              </a:rPr>
              <a:t>Geen versiebeheer per vFinance-versie</a:t>
            </a:r>
          </a:p>
          <a:p>
            <a:pPr algn="l"/>
            <a:r>
              <a:rPr sz="1300" b="0">
                <a:solidFill>
                  <a:srgbClr val="2B2B2B"/>
                </a:solidFill>
              </a:rPr>
              <a:t>Handmatige intake van wijzigingen</a:t>
            </a:r>
          </a:p>
        </p:txBody>
      </p:sp>
      <p:sp>
        <p:nvSpPr>
          <p:cNvPr id="5" name="Rounded Rectangle 4"/>
          <p:cNvSpPr/>
          <p:nvPr/>
        </p:nvSpPr>
        <p:spPr>
          <a:xfrm>
            <a:off x="6217920" y="1371600"/>
            <a:ext cx="5394960" cy="4754880"/>
          </a:xfrm>
          <a:prstGeom prst="roundRect">
            <a:avLst/>
          </a:prstGeom>
          <a:solidFill>
            <a:srgbClr val="ECF6EF"/>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l"/>
            <a:r>
              <a:rPr sz="1800" b="1">
                <a:solidFill>
                  <a:srgbClr val="1E8E3E"/>
                </a:solidFill>
              </a:rPr>
              <a:t>De meerwaarde</a:t>
            </a:r>
          </a:p>
          <a:p>
            <a:pPr algn="l"/>
            <a:r>
              <a:rPr sz="1300" b="0">
                <a:solidFill>
                  <a:srgbClr val="2B2B2B"/>
                </a:solidFill>
              </a:rPr>
              <a:t>Minder compliance-risico</a:t>
            </a:r>
          </a:p>
          <a:p>
            <a:pPr algn="l"/>
            <a:r>
              <a:rPr sz="1300" b="0">
                <a:solidFill>
                  <a:srgbClr val="2B2B2B"/>
                </a:solidFill>
              </a:rPr>
              <a:t>1 plaats wijzigen ipv tien</a:t>
            </a:r>
          </a:p>
          <a:p>
            <a:pPr algn="l"/>
            <a:r>
              <a:rPr sz="1300" b="0">
                <a:solidFill>
                  <a:srgbClr val="2B2B2B"/>
                </a:solidFill>
              </a:rPr>
              <a:t>Traceerbaarheid per vintage-branch</a:t>
            </a:r>
          </a:p>
          <a:p>
            <a:pPr algn="l"/>
            <a:r>
              <a:rPr sz="1300" b="0">
                <a:solidFill>
                  <a:srgbClr val="2B2B2B"/>
                </a:solidFill>
              </a:rPr>
              <a:t>Geautomatiseerde, gecontroleerde flow</a:t>
            </a:r>
          </a:p>
        </p:txBody>
      </p:sp>
      <p:sp>
        <p:nvSpPr>
          <p:cNvPr id="6" name="TextBox 5"/>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0" rtlCol="0" anchor="ctr"/>
          <a:lstStyle/>
          <a:p>
            <a:pPr algn="l"/>
            <a:r>
              <a:rPr sz="2600" b="1">
                <a:solidFill>
                  <a:srgbClr val="FFFFFF"/>
                </a:solidFill>
              </a:rPr>
              <a:t>Wat heb ik gerealiseerd</a:t>
            </a:r>
          </a:p>
        </p:txBody>
      </p:sp>
      <p:sp>
        <p:nvSpPr>
          <p:cNvPr id="3" name="TextBox 2"/>
          <p:cNvSpPr txBox="1"/>
          <p:nvPr/>
        </p:nvSpPr>
        <p:spPr>
          <a:xfrm>
            <a:off x="640080" y="1280160"/>
            <a:ext cx="6400800" cy="4937760"/>
          </a:xfrm>
          <a:prstGeom prst="rect">
            <a:avLst/>
          </a:prstGeom>
          <a:noFill/>
        </p:spPr>
        <p:txBody>
          <a:bodyPr wrap="square">
            <a:spAutoFit/>
          </a:bodyPr>
          <a:lstStyle/>
          <a:p>
            <a:pPr>
              <a:spcAft>
                <a:spcPts val="600"/>
              </a:spcAft>
            </a:pPr>
            <a:r>
              <a:rPr sz="1900" b="1">
                <a:solidFill>
                  <a:srgbClr val="2B2B2B"/>
                </a:solidFill>
              </a:rPr>
              <a:t>Inventaris van 23 productlijnen (~1850 bestanden)</a:t>
            </a:r>
          </a:p>
          <a:p>
            <a:pPr>
              <a:spcAft>
                <a:spcPts val="600"/>
              </a:spcAft>
            </a:pPr>
            <a:r>
              <a:rPr sz="1900" b="1">
                <a:solidFill>
                  <a:srgbClr val="2B2B2B"/>
                </a:solidFill>
              </a:rPr>
              <a:t>Migratie van de wettelijke documenten naar Jinja HTML</a:t>
            </a:r>
          </a:p>
          <a:p>
            <a:pPr>
              <a:spcAft>
                <a:spcPts val="600"/>
              </a:spcAft>
            </a:pPr>
            <a:r>
              <a:rPr sz="1900" b="1">
                <a:solidFill>
                  <a:srgbClr val="2B2B2B"/>
                </a:solidFill>
              </a:rPr>
              <a:t>Consolidatie van duplicaten via inheritance</a:t>
            </a:r>
          </a:p>
          <a:p>
            <a:pPr>
              <a:spcAft>
                <a:spcPts val="600"/>
              </a:spcAft>
            </a:pPr>
            <a:r>
              <a:rPr sz="1900" b="1">
                <a:solidFill>
                  <a:srgbClr val="2B2B2B"/>
                </a:solidFill>
              </a:rPr>
              <a:t>Template Registry + compatibiliteitsmatrix per vintage</a:t>
            </a:r>
          </a:p>
          <a:p>
            <a:pPr>
              <a:spcAft>
                <a:spcPts val="600"/>
              </a:spcAft>
            </a:pPr>
            <a:r>
              <a:rPr sz="1900" b="1">
                <a:solidFill>
                  <a:srgbClr val="2B2B2B"/>
                </a:solidFill>
              </a:rPr>
              <a:t>JSM-automatisering en een CI-pipeline</a:t>
            </a:r>
          </a:p>
          <a:p>
            <a:pPr>
              <a:spcAft>
                <a:spcPts val="600"/>
              </a:spcAft>
            </a:pPr>
            <a:r>
              <a:rPr sz="1900" b="1">
                <a:solidFill>
                  <a:srgbClr val="2B2B2B"/>
                </a:solidFill>
              </a:rPr>
              <a:t>Handover-document voor het team</a:t>
            </a:r>
          </a:p>
        </p:txBody>
      </p:sp>
      <p:sp>
        <p:nvSpPr>
          <p:cNvPr id="4" name="TextBox 3"/>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pic>
        <p:nvPicPr>
          <p:cNvPr id="7" name="Picture 6">
            <a:extLst>
              <a:ext uri="{FF2B5EF4-FFF2-40B4-BE49-F238E27FC236}">
                <a16:creationId xmlns:a16="http://schemas.microsoft.com/office/drawing/2014/main" id="{5AA1C836-DC96-08C3-9CF7-1E77ED163C4E}"/>
              </a:ext>
            </a:extLst>
          </p:cNvPr>
          <p:cNvPicPr>
            <a:picLocks noChangeAspect="1"/>
          </p:cNvPicPr>
          <p:nvPr/>
        </p:nvPicPr>
        <p:blipFill>
          <a:blip r:embed="rId3"/>
          <a:srcRect r="20873"/>
          <a:stretch>
            <a:fillRect/>
          </a:stretch>
        </p:blipFill>
        <p:spPr>
          <a:xfrm>
            <a:off x="6839324" y="1860804"/>
            <a:ext cx="4712596" cy="3776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Het project in cijfers</a:t>
            </a:r>
          </a:p>
        </p:txBody>
      </p:sp>
      <p:sp>
        <p:nvSpPr>
          <p:cNvPr id="4" name="Rounded Rectangle 3"/>
          <p:cNvSpPr/>
          <p:nvPr/>
        </p:nvSpPr>
        <p:spPr>
          <a:xfrm>
            <a:off x="822960" y="1463040"/>
            <a:ext cx="3383280" cy="2011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E30613"/>
                </a:solidFill>
              </a:rPr>
              <a:t>4</a:t>
            </a:r>
          </a:p>
          <a:p>
            <a:pPr algn="ctr"/>
            <a:r>
              <a:rPr sz="1100" b="0">
                <a:solidFill>
                  <a:srgbClr val="2B2B2B"/>
                </a:solidFill>
              </a:rPr>
              <a:t>sprints</a:t>
            </a:r>
          </a:p>
        </p:txBody>
      </p:sp>
      <p:sp>
        <p:nvSpPr>
          <p:cNvPr id="5" name="Rounded Rectangle 4"/>
          <p:cNvSpPr/>
          <p:nvPr/>
        </p:nvSpPr>
        <p:spPr>
          <a:xfrm>
            <a:off x="4572000" y="1463040"/>
            <a:ext cx="3383280" cy="2011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E30613"/>
                </a:solidFill>
              </a:rPr>
              <a:t>~200 u</a:t>
            </a:r>
          </a:p>
          <a:p>
            <a:pPr algn="ctr"/>
            <a:r>
              <a:rPr sz="1100" b="0">
                <a:solidFill>
                  <a:srgbClr val="2B2B2B"/>
                </a:solidFill>
              </a:rPr>
              <a:t>gewerkt</a:t>
            </a:r>
          </a:p>
        </p:txBody>
      </p:sp>
      <p:sp>
        <p:nvSpPr>
          <p:cNvPr id="6" name="Rounded Rectangle 5"/>
          <p:cNvSpPr/>
          <p:nvPr/>
        </p:nvSpPr>
        <p:spPr>
          <a:xfrm>
            <a:off x="8321040" y="1463040"/>
            <a:ext cx="3383280" cy="2011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E30613"/>
                </a:solidFill>
              </a:rPr>
              <a:t>23</a:t>
            </a:r>
          </a:p>
          <a:p>
            <a:pPr algn="ctr"/>
            <a:r>
              <a:rPr sz="1100" b="0">
                <a:solidFill>
                  <a:srgbClr val="2B2B2B"/>
                </a:solidFill>
              </a:rPr>
              <a:t>productlijnen</a:t>
            </a:r>
          </a:p>
        </p:txBody>
      </p:sp>
      <p:sp>
        <p:nvSpPr>
          <p:cNvPr id="7" name="Rounded Rectangle 6"/>
          <p:cNvSpPr/>
          <p:nvPr/>
        </p:nvSpPr>
        <p:spPr>
          <a:xfrm>
            <a:off x="822960" y="3840480"/>
            <a:ext cx="3383280" cy="2011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E30613"/>
                </a:solidFill>
              </a:rPr>
              <a:t>202</a:t>
            </a:r>
          </a:p>
          <a:p>
            <a:pPr algn="ctr"/>
            <a:r>
              <a:rPr sz="1100" b="0">
                <a:solidFill>
                  <a:srgbClr val="2B2B2B"/>
                </a:solidFill>
              </a:rPr>
              <a:t>templates in CI</a:t>
            </a:r>
          </a:p>
        </p:txBody>
      </p:sp>
      <p:sp>
        <p:nvSpPr>
          <p:cNvPr id="8" name="Rounded Rectangle 7"/>
          <p:cNvSpPr/>
          <p:nvPr/>
        </p:nvSpPr>
        <p:spPr>
          <a:xfrm>
            <a:off x="4572000" y="3840480"/>
            <a:ext cx="3383280" cy="2011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E30613"/>
                </a:solidFill>
              </a:rPr>
              <a:t>115</a:t>
            </a:r>
          </a:p>
          <a:p>
            <a:pPr algn="ctr"/>
            <a:r>
              <a:rPr sz="1100" b="0">
                <a:solidFill>
                  <a:srgbClr val="2B2B2B"/>
                </a:solidFill>
              </a:rPr>
              <a:t>fiches gegenereerd</a:t>
            </a:r>
          </a:p>
        </p:txBody>
      </p:sp>
      <p:sp>
        <p:nvSpPr>
          <p:cNvPr id="9" name="Rounded Rectangle 8"/>
          <p:cNvSpPr/>
          <p:nvPr/>
        </p:nvSpPr>
        <p:spPr>
          <a:xfrm>
            <a:off x="8321040" y="3840480"/>
            <a:ext cx="3383280" cy="20116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E30613"/>
                </a:solidFill>
              </a:rPr>
              <a:t>5</a:t>
            </a:r>
          </a:p>
          <a:p>
            <a:pPr algn="ctr"/>
            <a:r>
              <a:rPr sz="1100" b="0">
                <a:solidFill>
                  <a:srgbClr val="2B2B2B"/>
                </a:solidFill>
              </a:rPr>
              <a:t>workflows / CI</a:t>
            </a:r>
          </a:p>
        </p:txBody>
      </p:sp>
      <p:sp>
        <p:nvSpPr>
          <p:cNvPr id="10" name="TextBox 9"/>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0" rtlCol="0" anchor="ctr"/>
          <a:lstStyle/>
          <a:p>
            <a:pPr algn="l"/>
            <a:r>
              <a:rPr sz="2600" b="1">
                <a:solidFill>
                  <a:srgbClr val="FFFFFF"/>
                </a:solidFill>
              </a:rPr>
              <a:t>Hoe - vereisten en feedback</a:t>
            </a:r>
          </a:p>
        </p:txBody>
      </p:sp>
      <p:sp>
        <p:nvSpPr>
          <p:cNvPr id="3" name="TextBox 2"/>
          <p:cNvSpPr txBox="1"/>
          <p:nvPr/>
        </p:nvSpPr>
        <p:spPr>
          <a:xfrm>
            <a:off x="640080" y="2497976"/>
            <a:ext cx="10725912" cy="1862048"/>
          </a:xfrm>
          <a:prstGeom prst="rect">
            <a:avLst/>
          </a:prstGeom>
          <a:noFill/>
        </p:spPr>
        <p:txBody>
          <a:bodyPr wrap="square">
            <a:spAutoFit/>
          </a:bodyPr>
          <a:lstStyle/>
          <a:p>
            <a:pPr marL="342900" indent="-342900" algn="ctr">
              <a:spcAft>
                <a:spcPts val="600"/>
              </a:spcAft>
              <a:buFont typeface="Arial" panose="020B0604020202020204" pitchFamily="34" charset="0"/>
              <a:buChar char="•"/>
            </a:pPr>
            <a:r>
              <a:rPr sz="1900" b="1" dirty="0" err="1">
                <a:solidFill>
                  <a:srgbClr val="2B2B2B"/>
                </a:solidFill>
              </a:rPr>
              <a:t>Vereisten</a:t>
            </a:r>
            <a:r>
              <a:rPr sz="1900" b="1" dirty="0">
                <a:solidFill>
                  <a:srgbClr val="2B2B2B"/>
                </a:solidFill>
              </a:rPr>
              <a:t> </a:t>
            </a:r>
            <a:r>
              <a:rPr sz="1900" b="1" dirty="0" err="1">
                <a:solidFill>
                  <a:srgbClr val="2B2B2B"/>
                </a:solidFill>
              </a:rPr>
              <a:t>uit</a:t>
            </a:r>
            <a:r>
              <a:rPr sz="1900" b="1" dirty="0">
                <a:solidFill>
                  <a:srgbClr val="2B2B2B"/>
                </a:solidFill>
              </a:rPr>
              <a:t> de </a:t>
            </a:r>
            <a:r>
              <a:rPr sz="1900" b="1" dirty="0" err="1">
                <a:solidFill>
                  <a:srgbClr val="2B2B2B"/>
                </a:solidFill>
              </a:rPr>
              <a:t>bestaande</a:t>
            </a:r>
            <a:r>
              <a:rPr sz="1900" b="1" dirty="0">
                <a:solidFill>
                  <a:srgbClr val="2B2B2B"/>
                </a:solidFill>
              </a:rPr>
              <a:t> templates </a:t>
            </a:r>
            <a:r>
              <a:rPr sz="1900" b="1" dirty="0" err="1">
                <a:solidFill>
                  <a:srgbClr val="2B2B2B"/>
                </a:solidFill>
              </a:rPr>
              <a:t>en</a:t>
            </a:r>
            <a:r>
              <a:rPr sz="1900" b="1" dirty="0">
                <a:solidFill>
                  <a:srgbClr val="2B2B2B"/>
                </a:solidFill>
              </a:rPr>
              <a:t> </a:t>
            </a:r>
            <a:r>
              <a:rPr sz="1900" b="1" dirty="0" err="1">
                <a:solidFill>
                  <a:srgbClr val="2B2B2B"/>
                </a:solidFill>
              </a:rPr>
              <a:t>gesprekken</a:t>
            </a:r>
            <a:r>
              <a:rPr sz="1900" b="1" dirty="0">
                <a:solidFill>
                  <a:srgbClr val="2B2B2B"/>
                </a:solidFill>
              </a:rPr>
              <a:t> met Erwin</a:t>
            </a:r>
          </a:p>
          <a:p>
            <a:pPr marL="342900" indent="-342900" algn="ctr">
              <a:spcAft>
                <a:spcPts val="600"/>
              </a:spcAft>
              <a:buFont typeface="Arial" panose="020B0604020202020204" pitchFamily="34" charset="0"/>
              <a:buChar char="•"/>
            </a:pPr>
            <a:r>
              <a:rPr sz="1900" b="1" dirty="0">
                <a:solidFill>
                  <a:srgbClr val="2B2B2B"/>
                </a:solidFill>
              </a:rPr>
              <a:t>Backlog met user stories in </a:t>
            </a:r>
            <a:r>
              <a:rPr sz="1900" b="1" dirty="0" err="1">
                <a:solidFill>
                  <a:srgbClr val="2B2B2B"/>
                </a:solidFill>
              </a:rPr>
              <a:t>projectwerk</a:t>
            </a:r>
            <a:r>
              <a:rPr sz="1900" b="1" dirty="0">
                <a:solidFill>
                  <a:srgbClr val="2B2B2B"/>
                </a:solidFill>
              </a:rPr>
              <a:t>, </a:t>
            </a:r>
            <a:r>
              <a:rPr sz="1900" b="1" dirty="0" err="1">
                <a:solidFill>
                  <a:srgbClr val="2B2B2B"/>
                </a:solidFill>
              </a:rPr>
              <a:t>geprioriteerd</a:t>
            </a:r>
            <a:r>
              <a:rPr sz="1900" b="1" dirty="0">
                <a:solidFill>
                  <a:srgbClr val="2B2B2B"/>
                </a:solidFill>
              </a:rPr>
              <a:t> met Eduardo</a:t>
            </a:r>
          </a:p>
          <a:p>
            <a:pPr marL="342900" indent="-342900" algn="ctr">
              <a:spcAft>
                <a:spcPts val="600"/>
              </a:spcAft>
              <a:buFont typeface="Arial" panose="020B0604020202020204" pitchFamily="34" charset="0"/>
              <a:buChar char="•"/>
            </a:pPr>
            <a:r>
              <a:rPr sz="1900" b="1" dirty="0">
                <a:solidFill>
                  <a:srgbClr val="2B2B2B"/>
                </a:solidFill>
              </a:rPr>
              <a:t>Per sprint </a:t>
            </a:r>
            <a:r>
              <a:rPr sz="1900" b="1" dirty="0" err="1">
                <a:solidFill>
                  <a:srgbClr val="2B2B2B"/>
                </a:solidFill>
              </a:rPr>
              <a:t>een</a:t>
            </a:r>
            <a:r>
              <a:rPr sz="1900" b="1" dirty="0">
                <a:solidFill>
                  <a:srgbClr val="2B2B2B"/>
                </a:solidFill>
              </a:rPr>
              <a:t> demo </a:t>
            </a:r>
            <a:r>
              <a:rPr sz="1900" b="1" dirty="0" err="1">
                <a:solidFill>
                  <a:srgbClr val="2B2B2B"/>
                </a:solidFill>
              </a:rPr>
              <a:t>en</a:t>
            </a:r>
            <a:r>
              <a:rPr sz="1900" b="1" dirty="0">
                <a:solidFill>
                  <a:srgbClr val="2B2B2B"/>
                </a:solidFill>
              </a:rPr>
              <a:t> </a:t>
            </a:r>
            <a:r>
              <a:rPr sz="1900" b="1" dirty="0" err="1">
                <a:solidFill>
                  <a:srgbClr val="2B2B2B"/>
                </a:solidFill>
              </a:rPr>
              <a:t>een</a:t>
            </a:r>
            <a:r>
              <a:rPr sz="1900" b="1" dirty="0">
                <a:solidFill>
                  <a:srgbClr val="2B2B2B"/>
                </a:solidFill>
              </a:rPr>
              <a:t> status-mail </a:t>
            </a:r>
            <a:r>
              <a:rPr sz="1900" b="1" dirty="0" err="1">
                <a:solidFill>
                  <a:srgbClr val="2B2B2B"/>
                </a:solidFill>
              </a:rPr>
              <a:t>naar</a:t>
            </a:r>
            <a:r>
              <a:rPr sz="1900" b="1" dirty="0">
                <a:solidFill>
                  <a:srgbClr val="2B2B2B"/>
                </a:solidFill>
              </a:rPr>
              <a:t> de </a:t>
            </a:r>
            <a:r>
              <a:rPr sz="1900" b="1" dirty="0" err="1">
                <a:solidFill>
                  <a:srgbClr val="2B2B2B"/>
                </a:solidFill>
              </a:rPr>
              <a:t>opdrachtgever</a:t>
            </a:r>
            <a:endParaRPr sz="1900" b="1" dirty="0">
              <a:solidFill>
                <a:srgbClr val="2B2B2B"/>
              </a:solidFill>
            </a:endParaRPr>
          </a:p>
          <a:p>
            <a:pPr marL="342900" indent="-342900" algn="ctr">
              <a:spcAft>
                <a:spcPts val="600"/>
              </a:spcAft>
              <a:buFont typeface="Arial" panose="020B0604020202020204" pitchFamily="34" charset="0"/>
              <a:buChar char="•"/>
            </a:pPr>
            <a:r>
              <a:rPr sz="1900" b="1" dirty="0" err="1">
                <a:solidFill>
                  <a:srgbClr val="2B2B2B"/>
                </a:solidFill>
              </a:rPr>
              <a:t>Validatiesessies</a:t>
            </a:r>
            <a:r>
              <a:rPr sz="1900" b="1" dirty="0">
                <a:solidFill>
                  <a:srgbClr val="2B2B2B"/>
                </a:solidFill>
              </a:rPr>
              <a:t> met Erwin (SKM-</a:t>
            </a:r>
            <a:r>
              <a:rPr sz="1900" b="1" dirty="0" err="1">
                <a:solidFill>
                  <a:srgbClr val="2B2B2B"/>
                </a:solidFill>
              </a:rPr>
              <a:t>varianten</a:t>
            </a:r>
            <a:r>
              <a:rPr sz="1900" b="1" dirty="0">
                <a:solidFill>
                  <a:srgbClr val="2B2B2B"/>
                </a:solidFill>
              </a:rPr>
              <a:t>, </a:t>
            </a:r>
            <a:r>
              <a:rPr sz="1900" b="1" dirty="0" err="1">
                <a:solidFill>
                  <a:srgbClr val="2B2B2B"/>
                </a:solidFill>
              </a:rPr>
              <a:t>fondsfiches</a:t>
            </a:r>
            <a:r>
              <a:rPr sz="1900" b="1" dirty="0">
                <a:solidFill>
                  <a:srgbClr val="2B2B2B"/>
                </a:solidFill>
              </a:rPr>
              <a:t>)</a:t>
            </a:r>
          </a:p>
          <a:p>
            <a:pPr marL="342900" indent="-342900" algn="ctr">
              <a:spcAft>
                <a:spcPts val="600"/>
              </a:spcAft>
              <a:buFont typeface="Arial" panose="020B0604020202020204" pitchFamily="34" charset="0"/>
              <a:buChar char="•"/>
            </a:pPr>
            <a:r>
              <a:rPr sz="1900" b="1" dirty="0" err="1">
                <a:solidFill>
                  <a:srgbClr val="2B2B2B"/>
                </a:solidFill>
              </a:rPr>
              <a:t>Bijsturing</a:t>
            </a:r>
            <a:r>
              <a:rPr sz="1900" b="1" dirty="0">
                <a:solidFill>
                  <a:srgbClr val="2B2B2B"/>
                </a:solidFill>
              </a:rPr>
              <a:t> op feedback: Boutique_44 </a:t>
            </a:r>
            <a:r>
              <a:rPr sz="1900" b="1" dirty="0" err="1">
                <a:solidFill>
                  <a:srgbClr val="2B2B2B"/>
                </a:solidFill>
              </a:rPr>
              <a:t>bleek</a:t>
            </a:r>
            <a:r>
              <a:rPr sz="1900" b="1" dirty="0">
                <a:solidFill>
                  <a:srgbClr val="2B2B2B"/>
                </a:solidFill>
              </a:rPr>
              <a:t> </a:t>
            </a:r>
            <a:r>
              <a:rPr sz="1900" b="1" dirty="0" err="1">
                <a:solidFill>
                  <a:srgbClr val="2B2B2B"/>
                </a:solidFill>
              </a:rPr>
              <a:t>geen</a:t>
            </a:r>
            <a:r>
              <a:rPr sz="1900" b="1" dirty="0">
                <a:solidFill>
                  <a:srgbClr val="2B2B2B"/>
                </a:solidFill>
              </a:rPr>
              <a:t> </a:t>
            </a:r>
            <a:r>
              <a:rPr sz="1900" b="1" dirty="0" err="1">
                <a:solidFill>
                  <a:srgbClr val="2B2B2B"/>
                </a:solidFill>
              </a:rPr>
              <a:t>fondsfiches</a:t>
            </a:r>
            <a:r>
              <a:rPr sz="1900" b="1" dirty="0">
                <a:solidFill>
                  <a:srgbClr val="2B2B2B"/>
                </a:solidFill>
              </a:rPr>
              <a:t> </a:t>
            </a:r>
            <a:r>
              <a:rPr sz="1900" b="1" dirty="0" err="1">
                <a:solidFill>
                  <a:srgbClr val="2B2B2B"/>
                </a:solidFill>
              </a:rPr>
              <a:t>te</a:t>
            </a:r>
            <a:r>
              <a:rPr sz="1900" b="1" dirty="0">
                <a:solidFill>
                  <a:srgbClr val="2B2B2B"/>
                </a:solidFill>
              </a:rPr>
              <a:t> </a:t>
            </a:r>
            <a:r>
              <a:rPr sz="1900" b="1" dirty="0" err="1">
                <a:solidFill>
                  <a:srgbClr val="2B2B2B"/>
                </a:solidFill>
              </a:rPr>
              <a:t>hebben</a:t>
            </a:r>
            <a:endParaRPr sz="1900" b="1" dirty="0">
              <a:solidFill>
                <a:srgbClr val="2B2B2B"/>
              </a:solidFill>
            </a:endParaRPr>
          </a:p>
        </p:txBody>
      </p:sp>
      <p:sp>
        <p:nvSpPr>
          <p:cNvPr id="4" name="TextBox 3"/>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Hoe - technology stack</a:t>
            </a:r>
          </a:p>
        </p:txBody>
      </p:sp>
      <p:sp>
        <p:nvSpPr>
          <p:cNvPr id="4" name="Rounded Rectangle 3"/>
          <p:cNvSpPr/>
          <p:nvPr/>
        </p:nvSpPr>
        <p:spPr>
          <a:xfrm>
            <a:off x="822960" y="137160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Jinja2</a:t>
            </a:r>
          </a:p>
        </p:txBody>
      </p:sp>
      <p:sp>
        <p:nvSpPr>
          <p:cNvPr id="5" name="Rounded Rectangle 4"/>
          <p:cNvSpPr/>
          <p:nvPr/>
        </p:nvSpPr>
        <p:spPr>
          <a:xfrm>
            <a:off x="4754880" y="137160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Git / GitHub</a:t>
            </a:r>
          </a:p>
        </p:txBody>
      </p:sp>
      <p:sp>
        <p:nvSpPr>
          <p:cNvPr id="6" name="Rounded Rectangle 5"/>
          <p:cNvSpPr/>
          <p:nvPr/>
        </p:nvSpPr>
        <p:spPr>
          <a:xfrm>
            <a:off x="822960" y="219456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GitHub Actions</a:t>
            </a:r>
          </a:p>
        </p:txBody>
      </p:sp>
      <p:sp>
        <p:nvSpPr>
          <p:cNvPr id="7" name="Rounded Rectangle 6"/>
          <p:cNvSpPr/>
          <p:nvPr/>
        </p:nvSpPr>
        <p:spPr>
          <a:xfrm>
            <a:off x="4754880" y="219456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JIRA REST API</a:t>
            </a:r>
          </a:p>
        </p:txBody>
      </p:sp>
      <p:sp>
        <p:nvSpPr>
          <p:cNvPr id="8" name="Rounded Rectangle 7"/>
          <p:cNvSpPr/>
          <p:nvPr/>
        </p:nvSpPr>
        <p:spPr>
          <a:xfrm>
            <a:off x="822960" y="301752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Microsoft Graph</a:t>
            </a:r>
          </a:p>
        </p:txBody>
      </p:sp>
      <p:sp>
        <p:nvSpPr>
          <p:cNvPr id="9" name="Rounded Rectangle 8"/>
          <p:cNvSpPr/>
          <p:nvPr/>
        </p:nvSpPr>
        <p:spPr>
          <a:xfrm>
            <a:off x="4754880" y="301752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SMTP (Office365)</a:t>
            </a:r>
          </a:p>
        </p:txBody>
      </p:sp>
      <p:sp>
        <p:nvSpPr>
          <p:cNvPr id="10" name="Rounded Rectangle 9"/>
          <p:cNvSpPr/>
          <p:nvPr/>
        </p:nvSpPr>
        <p:spPr>
          <a:xfrm>
            <a:off x="822960" y="384048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Python</a:t>
            </a:r>
          </a:p>
        </p:txBody>
      </p:sp>
      <p:sp>
        <p:nvSpPr>
          <p:cNvPr id="11" name="Rounded Rectangle 10"/>
          <p:cNvSpPr/>
          <p:nvPr/>
        </p:nvSpPr>
        <p:spPr>
          <a:xfrm>
            <a:off x="4754880" y="3840480"/>
            <a:ext cx="3383280" cy="502920"/>
          </a:xfrm>
          <a:prstGeom prst="roundRect">
            <a:avLst/>
          </a:prstGeom>
          <a:solidFill>
            <a:srgbClr val="FFFFFF"/>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2B2B2B"/>
                </a:solidFill>
              </a:rPr>
              <a:t>Markdown / wiki</a:t>
            </a:r>
          </a:p>
        </p:txBody>
      </p:sp>
      <p:sp>
        <p:nvSpPr>
          <p:cNvPr id="12" name="TextBox 11"/>
          <p:cNvSpPr txBox="1"/>
          <p:nvPr/>
        </p:nvSpPr>
        <p:spPr>
          <a:xfrm>
            <a:off x="822960" y="4937760"/>
            <a:ext cx="10515600" cy="1463040"/>
          </a:xfrm>
          <a:prstGeom prst="rect">
            <a:avLst/>
          </a:prstGeom>
          <a:noFill/>
        </p:spPr>
        <p:txBody>
          <a:bodyPr wrap="none">
            <a:spAutoFit/>
          </a:bodyPr>
          <a:lstStyle/>
          <a:p>
            <a:pPr algn="l"/>
            <a:r>
              <a:rPr sz="1400" b="1">
                <a:solidFill>
                  <a:srgbClr val="2B2B2B"/>
                </a:solidFill>
              </a:rPr>
              <a:t>Waarom deze keuzes</a:t>
            </a:r>
          </a:p>
          <a:p>
            <a:pPr algn="l"/>
            <a:r>
              <a:rPr sz="1200" b="0">
                <a:solidFill>
                  <a:srgbClr val="666666"/>
                </a:solidFill>
              </a:rPr>
              <a:t>Jinja sluit aan bij de bestaande vFinance-renderer. GitHub Actions zet de automatisering bij de code.</a:t>
            </a:r>
          </a:p>
          <a:p>
            <a:pPr algn="l"/>
            <a:r>
              <a:rPr sz="1200" b="0">
                <a:solidFill>
                  <a:srgbClr val="666666"/>
                </a:solidFill>
              </a:rPr>
              <a:t>JIRA omdat het team daar al in werkt.</a:t>
            </a:r>
          </a:p>
        </p:txBody>
      </p:sp>
      <p:sp>
        <p:nvSpPr>
          <p:cNvPr id="13" name="TextBox 12"/>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Hoe - aanpak (Scrum)</a:t>
            </a:r>
          </a:p>
        </p:txBody>
      </p:sp>
      <p:sp>
        <p:nvSpPr>
          <p:cNvPr id="4" name="Rectangle 3"/>
          <p:cNvSpPr/>
          <p:nvPr/>
        </p:nvSpPr>
        <p:spPr>
          <a:xfrm>
            <a:off x="822960" y="3291840"/>
            <a:ext cx="10515600" cy="54864"/>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2194560"/>
            <a:ext cx="2468880" cy="2194560"/>
          </a:xfrm>
          <a:prstGeom prst="roundRect">
            <a:avLst/>
          </a:prstGeom>
          <a:solidFill>
            <a:srgbClr val="F2F2F2"/>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30613"/>
                </a:solidFill>
              </a:rPr>
              <a:t>Sprint 0</a:t>
            </a:r>
          </a:p>
          <a:p>
            <a:pPr algn="ctr"/>
            <a:r>
              <a:rPr sz="1100" b="0">
                <a:solidFill>
                  <a:srgbClr val="666666"/>
                </a:solidFill>
              </a:rPr>
              <a:t>30/3 - 11/4</a:t>
            </a:r>
          </a:p>
          <a:p>
            <a:pPr algn="ctr"/>
            <a:r>
              <a:rPr sz="1300" b="1">
                <a:solidFill>
                  <a:srgbClr val="2B2B2B"/>
                </a:solidFill>
              </a:rPr>
              <a:t>Fundament</a:t>
            </a:r>
          </a:p>
        </p:txBody>
      </p:sp>
      <p:sp>
        <p:nvSpPr>
          <p:cNvPr id="6" name="Rounded Rectangle 5"/>
          <p:cNvSpPr/>
          <p:nvPr/>
        </p:nvSpPr>
        <p:spPr>
          <a:xfrm>
            <a:off x="3520440" y="2194560"/>
            <a:ext cx="2468880" cy="2194560"/>
          </a:xfrm>
          <a:prstGeom prst="roundRect">
            <a:avLst/>
          </a:prstGeom>
          <a:solidFill>
            <a:srgbClr val="F2F2F2"/>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30613"/>
                </a:solidFill>
              </a:rPr>
              <a:t>Sprint 1</a:t>
            </a:r>
          </a:p>
          <a:p>
            <a:pPr algn="ctr"/>
            <a:r>
              <a:rPr sz="1100" b="0">
                <a:solidFill>
                  <a:srgbClr val="666666"/>
                </a:solidFill>
              </a:rPr>
              <a:t>14/4 - 25/4</a:t>
            </a:r>
          </a:p>
          <a:p>
            <a:pPr algn="ctr"/>
            <a:r>
              <a:rPr sz="1300" b="1">
                <a:solidFill>
                  <a:srgbClr val="2B2B2B"/>
                </a:solidFill>
              </a:rPr>
              <a:t>Migratie</a:t>
            </a:r>
          </a:p>
        </p:txBody>
      </p:sp>
      <p:sp>
        <p:nvSpPr>
          <p:cNvPr id="7" name="Rounded Rectangle 6"/>
          <p:cNvSpPr/>
          <p:nvPr/>
        </p:nvSpPr>
        <p:spPr>
          <a:xfrm>
            <a:off x="6217920" y="2194560"/>
            <a:ext cx="2468880" cy="2194560"/>
          </a:xfrm>
          <a:prstGeom prst="roundRect">
            <a:avLst/>
          </a:prstGeom>
          <a:solidFill>
            <a:srgbClr val="F2F2F2"/>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30613"/>
                </a:solidFill>
              </a:rPr>
              <a:t>Sprint 2</a:t>
            </a:r>
          </a:p>
          <a:p>
            <a:pPr algn="ctr"/>
            <a:r>
              <a:rPr sz="1100" b="0">
                <a:solidFill>
                  <a:srgbClr val="666666"/>
                </a:solidFill>
              </a:rPr>
              <a:t>28/4 - 8/5</a:t>
            </a:r>
          </a:p>
          <a:p>
            <a:pPr algn="ctr"/>
            <a:r>
              <a:rPr sz="1300" b="1">
                <a:solidFill>
                  <a:srgbClr val="2B2B2B"/>
                </a:solidFill>
              </a:rPr>
              <a:t>Consolidatie + JSM</a:t>
            </a:r>
          </a:p>
        </p:txBody>
      </p:sp>
      <p:sp>
        <p:nvSpPr>
          <p:cNvPr id="8" name="Rounded Rectangle 7"/>
          <p:cNvSpPr/>
          <p:nvPr/>
        </p:nvSpPr>
        <p:spPr>
          <a:xfrm>
            <a:off x="8915400" y="2194560"/>
            <a:ext cx="2468880" cy="2194560"/>
          </a:xfrm>
          <a:prstGeom prst="roundRect">
            <a:avLst/>
          </a:prstGeom>
          <a:solidFill>
            <a:srgbClr val="F2F2F2"/>
          </a:solidFill>
          <a:ln w="15875">
            <a:solidFill>
              <a:srgbClr val="E3061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30613"/>
                </a:solidFill>
              </a:rPr>
              <a:t>Sprint 3</a:t>
            </a:r>
          </a:p>
          <a:p>
            <a:pPr algn="ctr"/>
            <a:r>
              <a:rPr sz="1100" b="0">
                <a:solidFill>
                  <a:srgbClr val="666666"/>
                </a:solidFill>
              </a:rPr>
              <a:t>11/5 - 22/5</a:t>
            </a:r>
          </a:p>
          <a:p>
            <a:pPr algn="ctr"/>
            <a:r>
              <a:rPr sz="1300" b="1">
                <a:solidFill>
                  <a:srgbClr val="2B2B2B"/>
                </a:solidFill>
              </a:rPr>
              <a:t>CI + release</a:t>
            </a:r>
          </a:p>
        </p:txBody>
      </p:sp>
      <p:sp>
        <p:nvSpPr>
          <p:cNvPr id="9" name="TextBox 8"/>
          <p:cNvSpPr txBox="1"/>
          <p:nvPr/>
        </p:nvSpPr>
        <p:spPr>
          <a:xfrm>
            <a:off x="822960" y="4846320"/>
            <a:ext cx="10515600" cy="1280160"/>
          </a:xfrm>
          <a:prstGeom prst="rect">
            <a:avLst/>
          </a:prstGeom>
          <a:noFill/>
        </p:spPr>
        <p:txBody>
          <a:bodyPr wrap="none">
            <a:spAutoFit/>
          </a:bodyPr>
          <a:lstStyle/>
          <a:p>
            <a:pPr algn="l"/>
            <a:r>
              <a:rPr sz="1300" b="0">
                <a:solidFill>
                  <a:srgbClr val="2B2B2B"/>
                </a:solidFill>
              </a:rPr>
              <a:t>Agile/Scrum, solo, tijdens de werkuren bij Patronale Life. ~200h over 4 sprints van 2 weken.</a:t>
            </a:r>
          </a:p>
          <a:p>
            <a:pPr algn="l"/>
            <a:r>
              <a:rPr sz="1200" b="0">
                <a:solidFill>
                  <a:srgbClr val="666666"/>
                </a:solidFill>
              </a:rPr>
              <a:t>Per sprint: planning, daily standups, demo en retrospective. Tooling: projectwerk, GitHub, wiki.</a:t>
            </a:r>
          </a:p>
        </p:txBody>
      </p:sp>
      <p:sp>
        <p:nvSpPr>
          <p:cNvPr id="10" name="TextBox 9"/>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651760"/>
            <a:ext cx="10332720" cy="1645920"/>
          </a:xfrm>
          <a:prstGeom prst="rect">
            <a:avLst/>
          </a:prstGeom>
          <a:noFill/>
        </p:spPr>
        <p:txBody>
          <a:bodyPr wrap="square">
            <a:spAutoFit/>
          </a:bodyPr>
          <a:lstStyle/>
          <a:p>
            <a:pPr algn="l"/>
            <a:r>
              <a:rPr sz="3600" b="1">
                <a:solidFill>
                  <a:srgbClr val="FFFFFF"/>
                </a:solidFill>
              </a:rPr>
              <a:t>Demo</a:t>
            </a:r>
          </a:p>
          <a:p>
            <a:pPr algn="l"/>
            <a:r>
              <a:rPr sz="1800" b="0">
                <a:solidFill>
                  <a:srgbClr val="FFD8D8"/>
                </a:solidFill>
              </a:rPr>
              <a:t>Een dag uit het leven van Peter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Persona: Peter, business analyst</a:t>
            </a:r>
          </a:p>
        </p:txBody>
      </p:sp>
      <p:sp>
        <p:nvSpPr>
          <p:cNvPr id="4" name="Rounded Rectangle 3"/>
          <p:cNvSpPr/>
          <p:nvPr/>
        </p:nvSpPr>
        <p:spPr>
          <a:xfrm>
            <a:off x="640080" y="1463040"/>
            <a:ext cx="5852160" cy="438912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108960" y="1783080"/>
            <a:ext cx="1005840" cy="1005840"/>
          </a:xfrm>
          <a:prstGeom prst="ellipse">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P</a:t>
            </a:r>
          </a:p>
        </p:txBody>
      </p:sp>
      <p:sp>
        <p:nvSpPr>
          <p:cNvPr id="6" name="TextBox 5"/>
          <p:cNvSpPr txBox="1"/>
          <p:nvPr/>
        </p:nvSpPr>
        <p:spPr>
          <a:xfrm>
            <a:off x="822960" y="2926080"/>
            <a:ext cx="5486400" cy="2743200"/>
          </a:xfrm>
          <a:prstGeom prst="rect">
            <a:avLst/>
          </a:prstGeom>
          <a:noFill/>
        </p:spPr>
        <p:txBody>
          <a:bodyPr wrap="none">
            <a:spAutoFit/>
          </a:bodyPr>
          <a:lstStyle/>
          <a:p>
            <a:pPr algn="ctr"/>
            <a:r>
              <a:rPr sz="1800" b="1">
                <a:solidFill>
                  <a:srgbClr val="2B2B2B"/>
                </a:solidFill>
              </a:rPr>
              <a:t>Peter</a:t>
            </a:r>
          </a:p>
          <a:p>
            <a:pPr algn="ctr"/>
            <a:r>
              <a:rPr sz="1200" b="0">
                <a:solidFill>
                  <a:srgbClr val="666666"/>
                </a:solidFill>
              </a:rPr>
              <a:t>Business analyst vFinance</a:t>
            </a:r>
          </a:p>
          <a:p>
            <a:pPr algn="ctr"/>
            <a:endParaRPr sz="1200" b="0">
              <a:solidFill>
                <a:srgbClr val="666666"/>
              </a:solidFill>
            </a:endParaRPr>
          </a:p>
          <a:p>
            <a:pPr algn="ctr"/>
            <a:r>
              <a:rPr sz="1300" b="0">
                <a:solidFill>
                  <a:srgbClr val="2B2B2B"/>
                </a:solidFill>
              </a:rPr>
              <a:t>Merkt dat de juridische tekst in een ESIS-template moet wijzigen.</a:t>
            </a:r>
          </a:p>
          <a:p>
            <a:pPr algn="ctr"/>
            <a:r>
              <a:rPr sz="1200" b="0">
                <a:solidFill>
                  <a:srgbClr val="666666"/>
                </a:solidFill>
              </a:rPr>
              <a:t>Vroeger: een mail, tien handmatige kopieen, geen spoor.</a:t>
            </a:r>
          </a:p>
          <a:p>
            <a:pPr algn="ctr"/>
            <a:r>
              <a:rPr sz="1200" b="1">
                <a:solidFill>
                  <a:srgbClr val="E30613"/>
                </a:solidFill>
              </a:rPr>
              <a:t>Nu: hij maakt een GIT-ticket aan in JIRA Service Management.</a:t>
            </a:r>
          </a:p>
        </p:txBody>
      </p:sp>
      <p:sp>
        <p:nvSpPr>
          <p:cNvPr id="7" name="Rounded Rectangle 6"/>
          <p:cNvSpPr/>
          <p:nvPr/>
        </p:nvSpPr>
        <p:spPr>
          <a:xfrm>
            <a:off x="6766560" y="1463040"/>
            <a:ext cx="4846320" cy="4389120"/>
          </a:xfrm>
          <a:prstGeom prst="roundRect">
            <a:avLst/>
          </a:prstGeom>
          <a:solidFill>
            <a:srgbClr val="EEEEF0"/>
          </a:solidFill>
          <a:ln w="19050">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0" dirty="0">
              <a:solidFill>
                <a:srgbClr val="A8A8A8"/>
              </a:solidFill>
            </a:endParaRPr>
          </a:p>
        </p:txBody>
      </p:sp>
      <p:sp>
        <p:nvSpPr>
          <p:cNvPr id="8" name="TextBox 7"/>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pic>
        <p:nvPicPr>
          <p:cNvPr id="10" name="Picture 9">
            <a:extLst>
              <a:ext uri="{FF2B5EF4-FFF2-40B4-BE49-F238E27FC236}">
                <a16:creationId xmlns:a16="http://schemas.microsoft.com/office/drawing/2014/main" id="{F3FEDC80-7A57-55AD-3DA4-E2E6D96BCDA5}"/>
              </a:ext>
            </a:extLst>
          </p:cNvPr>
          <p:cNvPicPr>
            <a:picLocks noChangeAspect="1"/>
          </p:cNvPicPr>
          <p:nvPr/>
        </p:nvPicPr>
        <p:blipFill>
          <a:blip r:embed="rId3"/>
          <a:stretch>
            <a:fillRect/>
          </a:stretch>
        </p:blipFill>
        <p:spPr>
          <a:xfrm>
            <a:off x="7021396" y="2559289"/>
            <a:ext cx="4347644" cy="22138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Demo - de geautomatiseerde flow</a:t>
            </a:r>
          </a:p>
        </p:txBody>
      </p:sp>
      <p:sp>
        <p:nvSpPr>
          <p:cNvPr id="4" name="Rounded Rectangle 3"/>
          <p:cNvSpPr/>
          <p:nvPr/>
        </p:nvSpPr>
        <p:spPr>
          <a:xfrm>
            <a:off x="640080" y="1371600"/>
            <a:ext cx="1965960" cy="1554480"/>
          </a:xfrm>
          <a:prstGeom prst="round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700" b="1">
                <a:solidFill>
                  <a:srgbClr val="FFFFFF"/>
                </a:solidFill>
              </a:rPr>
              <a:t>1</a:t>
            </a:r>
          </a:p>
          <a:p>
            <a:pPr algn="ctr"/>
            <a:r>
              <a:rPr sz="950" b="0">
                <a:solidFill>
                  <a:srgbClr val="FFFFFF"/>
                </a:solidFill>
              </a:rPr>
              <a:t>GIT-ticket - Peter maakt een ticket</a:t>
            </a:r>
          </a:p>
        </p:txBody>
      </p:sp>
      <p:sp>
        <p:nvSpPr>
          <p:cNvPr id="5" name="Chevron 4"/>
          <p:cNvSpPr/>
          <p:nvPr/>
        </p:nvSpPr>
        <p:spPr>
          <a:xfrm>
            <a:off x="2606040" y="1874520"/>
            <a:ext cx="365760" cy="548640"/>
          </a:xfrm>
          <a:prstGeom prst="chevron">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971800" y="1371600"/>
            <a:ext cx="1965960" cy="1554480"/>
          </a:xfrm>
          <a:prstGeom prst="round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700" b="1">
                <a:solidFill>
                  <a:srgbClr val="FFFFFF"/>
                </a:solidFill>
              </a:rPr>
              <a:t>2</a:t>
            </a:r>
          </a:p>
          <a:p>
            <a:pPr algn="ctr"/>
            <a:r>
              <a:rPr sz="950" b="0">
                <a:solidFill>
                  <a:srgbClr val="FFFFFF"/>
                </a:solidFill>
              </a:rPr>
              <a:t>Branch - outbound maakt branch</a:t>
            </a:r>
          </a:p>
        </p:txBody>
      </p:sp>
      <p:sp>
        <p:nvSpPr>
          <p:cNvPr id="7" name="Chevron 6"/>
          <p:cNvSpPr/>
          <p:nvPr/>
        </p:nvSpPr>
        <p:spPr>
          <a:xfrm>
            <a:off x="4937760" y="1874520"/>
            <a:ext cx="365760" cy="548640"/>
          </a:xfrm>
          <a:prstGeom prst="chevron">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0" y="1371600"/>
            <a:ext cx="1965960" cy="1554480"/>
          </a:xfrm>
          <a:prstGeom prst="round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700" b="1">
                <a:solidFill>
                  <a:srgbClr val="FFFFFF"/>
                </a:solidFill>
              </a:rPr>
              <a:t>3</a:t>
            </a:r>
          </a:p>
          <a:p>
            <a:pPr algn="ctr"/>
            <a:r>
              <a:rPr sz="950" b="0">
                <a:solidFill>
                  <a:srgbClr val="FFFFFF"/>
                </a:solidFill>
              </a:rPr>
              <a:t>Wijziging - 1 base ipv tien</a:t>
            </a:r>
          </a:p>
        </p:txBody>
      </p:sp>
      <p:sp>
        <p:nvSpPr>
          <p:cNvPr id="9" name="Chevron 8"/>
          <p:cNvSpPr/>
          <p:nvPr/>
        </p:nvSpPr>
        <p:spPr>
          <a:xfrm>
            <a:off x="7269480" y="1874520"/>
            <a:ext cx="365760" cy="548640"/>
          </a:xfrm>
          <a:prstGeom prst="chevron">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635240" y="1371600"/>
            <a:ext cx="1965960" cy="1554480"/>
          </a:xfrm>
          <a:prstGeom prst="round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700" b="1">
                <a:solidFill>
                  <a:srgbClr val="FFFFFF"/>
                </a:solidFill>
              </a:rPr>
              <a:t>4</a:t>
            </a:r>
          </a:p>
          <a:p>
            <a:pPr algn="ctr"/>
            <a:r>
              <a:rPr sz="950" b="0">
                <a:solidFill>
                  <a:srgbClr val="FFFFFF"/>
                </a:solidFill>
              </a:rPr>
              <a:t>PR + CI - CI valideert templates</a:t>
            </a:r>
          </a:p>
        </p:txBody>
      </p:sp>
      <p:sp>
        <p:nvSpPr>
          <p:cNvPr id="11" name="Chevron 10"/>
          <p:cNvSpPr/>
          <p:nvPr/>
        </p:nvSpPr>
        <p:spPr>
          <a:xfrm>
            <a:off x="9601200" y="1874520"/>
            <a:ext cx="365760" cy="548640"/>
          </a:xfrm>
          <a:prstGeom prst="chevron">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966960" y="1371600"/>
            <a:ext cx="1965960" cy="1554480"/>
          </a:xfrm>
          <a:prstGeom prst="roundRect">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700" b="1">
                <a:solidFill>
                  <a:srgbClr val="FFFFFF"/>
                </a:solidFill>
              </a:rPr>
              <a:t>5</a:t>
            </a:r>
          </a:p>
          <a:p>
            <a:pPr algn="ctr"/>
            <a:r>
              <a:rPr sz="950" b="0">
                <a:solidFill>
                  <a:srgbClr val="FFFFFF"/>
                </a:solidFill>
              </a:rPr>
              <a:t>Digest - team ziet het s morgens</a:t>
            </a:r>
          </a:p>
        </p:txBody>
      </p:sp>
      <p:sp>
        <p:nvSpPr>
          <p:cNvPr id="13" name="Rounded Rectangle 12"/>
          <p:cNvSpPr/>
          <p:nvPr/>
        </p:nvSpPr>
        <p:spPr>
          <a:xfrm>
            <a:off x="2194560" y="3383280"/>
            <a:ext cx="7772400" cy="2651760"/>
          </a:xfrm>
          <a:prstGeom prst="roundRect">
            <a:avLst/>
          </a:prstGeom>
          <a:solidFill>
            <a:srgbClr val="EEEEF0"/>
          </a:solidFill>
          <a:ln w="19050">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0" dirty="0">
              <a:solidFill>
                <a:srgbClr val="A8A8A8"/>
              </a:solidFill>
            </a:endParaRPr>
          </a:p>
        </p:txBody>
      </p:sp>
      <p:sp>
        <p:nvSpPr>
          <p:cNvPr id="14" name="TextBox 13"/>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pic>
        <p:nvPicPr>
          <p:cNvPr id="16" name="Picture 15">
            <a:extLst>
              <a:ext uri="{FF2B5EF4-FFF2-40B4-BE49-F238E27FC236}">
                <a16:creationId xmlns:a16="http://schemas.microsoft.com/office/drawing/2014/main" id="{6B054487-3A35-2AF2-7F9B-8F9F19EA68DE}"/>
              </a:ext>
            </a:extLst>
          </p:cNvPr>
          <p:cNvPicPr>
            <a:picLocks noChangeAspect="1"/>
          </p:cNvPicPr>
          <p:nvPr/>
        </p:nvPicPr>
        <p:blipFill>
          <a:blip r:embed="rId3"/>
          <a:stretch>
            <a:fillRect/>
          </a:stretch>
        </p:blipFill>
        <p:spPr>
          <a:xfrm>
            <a:off x="3438145" y="3476856"/>
            <a:ext cx="5315710" cy="24646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82880"/>
            <a:ext cx="10972800" cy="640080"/>
          </a:xfrm>
          <a:prstGeom prst="rect">
            <a:avLst/>
          </a:prstGeom>
          <a:noFill/>
        </p:spPr>
        <p:txBody>
          <a:bodyPr wrap="none">
            <a:spAutoFit/>
          </a:bodyPr>
          <a:lstStyle/>
          <a:p>
            <a:pPr algn="l"/>
            <a:r>
              <a:rPr sz="2600" b="1">
                <a:solidFill>
                  <a:srgbClr val="FFFFFF"/>
                </a:solidFill>
              </a:rPr>
              <a:t>Demo - resultaat</a:t>
            </a:r>
          </a:p>
        </p:txBody>
      </p:sp>
      <p:sp>
        <p:nvSpPr>
          <p:cNvPr id="4" name="TextBox 3"/>
          <p:cNvSpPr txBox="1"/>
          <p:nvPr/>
        </p:nvSpPr>
        <p:spPr>
          <a:xfrm>
            <a:off x="640080" y="1188720"/>
            <a:ext cx="5394960" cy="365760"/>
          </a:xfrm>
          <a:prstGeom prst="rect">
            <a:avLst/>
          </a:prstGeom>
          <a:noFill/>
        </p:spPr>
        <p:txBody>
          <a:bodyPr wrap="none">
            <a:spAutoFit/>
          </a:bodyPr>
          <a:lstStyle/>
          <a:p>
            <a:pPr algn="l"/>
            <a:r>
              <a:rPr sz="1400" b="1">
                <a:solidFill>
                  <a:srgbClr val="2B2B2B"/>
                </a:solidFill>
              </a:rPr>
              <a:t>CI valideert elke push</a:t>
            </a:r>
          </a:p>
        </p:txBody>
      </p:sp>
      <p:sp>
        <p:nvSpPr>
          <p:cNvPr id="5" name="Rounded Rectangle 4"/>
          <p:cNvSpPr/>
          <p:nvPr/>
        </p:nvSpPr>
        <p:spPr>
          <a:xfrm>
            <a:off x="640080" y="1645920"/>
            <a:ext cx="5394960" cy="4206240"/>
          </a:xfrm>
          <a:prstGeom prst="roundRect">
            <a:avLst/>
          </a:prstGeom>
          <a:solidFill>
            <a:srgbClr val="EEEEF0"/>
          </a:solidFill>
          <a:ln w="19050">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0" dirty="0">
              <a:solidFill>
                <a:srgbClr val="A8A8A8"/>
              </a:solidFill>
            </a:endParaRPr>
          </a:p>
        </p:txBody>
      </p:sp>
      <p:sp>
        <p:nvSpPr>
          <p:cNvPr id="6" name="TextBox 5"/>
          <p:cNvSpPr txBox="1"/>
          <p:nvPr/>
        </p:nvSpPr>
        <p:spPr>
          <a:xfrm>
            <a:off x="6217920" y="1188720"/>
            <a:ext cx="5394960" cy="365760"/>
          </a:xfrm>
          <a:prstGeom prst="rect">
            <a:avLst/>
          </a:prstGeom>
          <a:noFill/>
        </p:spPr>
        <p:txBody>
          <a:bodyPr wrap="none">
            <a:spAutoFit/>
          </a:bodyPr>
          <a:lstStyle/>
          <a:p>
            <a:pPr algn="l"/>
            <a:r>
              <a:rPr sz="1400" b="1">
                <a:solidFill>
                  <a:srgbClr val="2B2B2B"/>
                </a:solidFill>
              </a:rPr>
              <a:t>Tweetalige digest-mail</a:t>
            </a:r>
          </a:p>
        </p:txBody>
      </p:sp>
      <p:sp>
        <p:nvSpPr>
          <p:cNvPr id="7" name="Rounded Rectangle 6"/>
          <p:cNvSpPr/>
          <p:nvPr/>
        </p:nvSpPr>
        <p:spPr>
          <a:xfrm>
            <a:off x="6217920" y="1645920"/>
            <a:ext cx="5394960" cy="4206240"/>
          </a:xfrm>
          <a:prstGeom prst="roundRect">
            <a:avLst/>
          </a:prstGeom>
          <a:solidFill>
            <a:srgbClr val="EEEEF0"/>
          </a:solidFill>
          <a:ln w="19050">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0" dirty="0">
              <a:solidFill>
                <a:srgbClr val="A8A8A8"/>
              </a:solidFill>
            </a:endParaRPr>
          </a:p>
        </p:txBody>
      </p:sp>
      <p:sp>
        <p:nvSpPr>
          <p:cNvPr id="8" name="TextBox 7"/>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pic>
        <p:nvPicPr>
          <p:cNvPr id="12" name="Picture 11">
            <a:extLst>
              <a:ext uri="{FF2B5EF4-FFF2-40B4-BE49-F238E27FC236}">
                <a16:creationId xmlns:a16="http://schemas.microsoft.com/office/drawing/2014/main" id="{8CF385EB-4310-8341-12D0-9DCCD741E385}"/>
              </a:ext>
            </a:extLst>
          </p:cNvPr>
          <p:cNvPicPr>
            <a:picLocks noChangeAspect="1"/>
          </p:cNvPicPr>
          <p:nvPr/>
        </p:nvPicPr>
        <p:blipFill>
          <a:blip r:embed="rId3"/>
          <a:stretch>
            <a:fillRect/>
          </a:stretch>
        </p:blipFill>
        <p:spPr>
          <a:xfrm>
            <a:off x="981456" y="2658957"/>
            <a:ext cx="4712208" cy="2180166"/>
          </a:xfrm>
          <a:prstGeom prst="rect">
            <a:avLst/>
          </a:prstGeom>
        </p:spPr>
      </p:pic>
      <p:pic>
        <p:nvPicPr>
          <p:cNvPr id="14" name="Picture 13">
            <a:extLst>
              <a:ext uri="{FF2B5EF4-FFF2-40B4-BE49-F238E27FC236}">
                <a16:creationId xmlns:a16="http://schemas.microsoft.com/office/drawing/2014/main" id="{EC303AFB-56BC-2667-968E-D61684A97E2A}"/>
              </a:ext>
            </a:extLst>
          </p:cNvPr>
          <p:cNvPicPr>
            <a:picLocks noChangeAspect="1"/>
          </p:cNvPicPr>
          <p:nvPr/>
        </p:nvPicPr>
        <p:blipFill>
          <a:blip r:embed="rId4"/>
          <a:stretch>
            <a:fillRect/>
          </a:stretch>
        </p:blipFill>
        <p:spPr>
          <a:xfrm>
            <a:off x="6446925" y="2395433"/>
            <a:ext cx="4936949" cy="27072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0" rtlCol="0" anchor="ctr"/>
          <a:lstStyle/>
          <a:p>
            <a:pPr algn="l"/>
            <a:r>
              <a:rPr sz="2600" b="1">
                <a:solidFill>
                  <a:srgbClr val="FFFFFF"/>
                </a:solidFill>
              </a:rPr>
              <a:t>Wat heb ik geleerd</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900" b="1">
                <a:solidFill>
                  <a:srgbClr val="2B2B2B"/>
                </a:solidFill>
              </a:rPr>
              <a:t>Aannames eerst aftoetsen bespaart veel herwerk</a:t>
            </a:r>
          </a:p>
          <a:p>
            <a:pPr>
              <a:spcAft>
                <a:spcPts val="600"/>
              </a:spcAft>
            </a:pPr>
            <a:r>
              <a:rPr sz="1900" b="1">
                <a:solidFill>
                  <a:srgbClr val="2B2B2B"/>
                </a:solidFill>
              </a:rPr>
              <a:t>Kwaliteitsinfrastructuur (CI) hoort vroeg in een project</a:t>
            </a:r>
          </a:p>
          <a:p>
            <a:pPr>
              <a:spcAft>
                <a:spcPts val="600"/>
              </a:spcAft>
            </a:pPr>
            <a:r>
              <a:rPr sz="1900" b="1">
                <a:solidFill>
                  <a:srgbClr val="2B2B2B"/>
                </a:solidFill>
              </a:rPr>
              <a:t>Een generator is sneller en minder foutgevoelig dan handwerk</a:t>
            </a:r>
          </a:p>
          <a:p>
            <a:pPr>
              <a:spcAft>
                <a:spcPts val="600"/>
              </a:spcAft>
            </a:pPr>
            <a:r>
              <a:rPr sz="1900" b="1">
                <a:solidFill>
                  <a:srgbClr val="2B2B2B"/>
                </a:solidFill>
              </a:rPr>
              <a:t>Destructieve automatisering niet live zonder sign-off</a:t>
            </a:r>
          </a:p>
          <a:p>
            <a:pPr>
              <a:spcAft>
                <a:spcPts val="600"/>
              </a:spcAft>
            </a:pPr>
            <a:r>
              <a:rPr sz="1900" b="1">
                <a:solidFill>
                  <a:srgbClr val="2B2B2B"/>
                </a:solidFill>
              </a:rPr>
              <a:t>Transparant communiceren over wat niet af is wekt vertrouwen</a:t>
            </a:r>
          </a:p>
        </p:txBody>
      </p:sp>
      <p:sp>
        <p:nvSpPr>
          <p:cNvPr id="4" name="TextBox 3"/>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96012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wrap="square" lIns="548640" rtlCol="0" anchor="ctr"/>
          <a:lstStyle/>
          <a:p>
            <a:pPr algn="l"/>
            <a:r>
              <a:rPr sz="2600" b="1">
                <a:solidFill>
                  <a:srgbClr val="FFFFFF"/>
                </a:solidFill>
              </a:rPr>
              <a:t>Hoe verder</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900" b="1">
                <a:solidFill>
                  <a:srgbClr val="2B2B2B"/>
                </a:solidFill>
              </a:rPr>
              <a:t>Resterende productlijnen migreren volgens hetzelfde patroon</a:t>
            </a:r>
          </a:p>
          <a:p>
            <a:pPr>
              <a:spcAft>
                <a:spcPts val="600"/>
              </a:spcAft>
            </a:pPr>
            <a:r>
              <a:rPr sz="1900" b="1">
                <a:solidFill>
                  <a:srgbClr val="2B2B2B"/>
                </a:solidFill>
              </a:rPr>
              <a:t>Attachment monitor live op een service-account na finale go</a:t>
            </a:r>
          </a:p>
          <a:p>
            <a:pPr>
              <a:spcAft>
                <a:spcPts val="600"/>
              </a:spcAft>
            </a:pPr>
            <a:r>
              <a:rPr sz="1900" b="1">
                <a:solidFill>
                  <a:srgbClr val="2B2B2B"/>
                </a:solidFill>
              </a:rPr>
              <a:t>Aparte FR-base voor de SIData-fiches</a:t>
            </a:r>
          </a:p>
          <a:p>
            <a:pPr>
              <a:spcAft>
                <a:spcPts val="600"/>
              </a:spcAft>
            </a:pPr>
            <a:r>
              <a:rPr sz="1900" b="1">
                <a:solidFill>
                  <a:srgbClr val="2B2B2B"/>
                </a:solidFill>
              </a:rPr>
              <a:t>Template-ticket lifecycle verder automatiseren</a:t>
            </a:r>
          </a:p>
          <a:p>
            <a:pPr>
              <a:spcAft>
                <a:spcPts val="600"/>
              </a:spcAft>
            </a:pPr>
            <a:r>
              <a:rPr sz="1900" b="1">
                <a:solidFill>
                  <a:srgbClr val="2B2B2B"/>
                </a:solidFill>
              </a:rPr>
              <a:t>Overdracht aan het vFinance team via het handover-document</a:t>
            </a:r>
          </a:p>
        </p:txBody>
      </p:sp>
      <p:sp>
        <p:nvSpPr>
          <p:cNvPr id="4" name="TextBox 3"/>
          <p:cNvSpPr txBox="1"/>
          <p:nvPr/>
        </p:nvSpPr>
        <p:spPr>
          <a:xfrm>
            <a:off x="457200" y="6419088"/>
            <a:ext cx="11247120" cy="320040"/>
          </a:xfrm>
          <a:prstGeom prst="rect">
            <a:avLst/>
          </a:prstGeom>
          <a:noFill/>
        </p:spPr>
        <p:txBody>
          <a:bodyPr wrap="none">
            <a:spAutoFit/>
          </a:bodyPr>
          <a:lstStyle/>
          <a:p>
            <a:pPr algn="l"/>
            <a:r>
              <a:rPr sz="800" b="0">
                <a:solidFill>
                  <a:srgbClr val="B0B0B0"/>
                </a:solidFill>
              </a:rPr>
              <a:t>Templating &amp; Compliance  -  Zacharia Janssen  -  ITP1 2025-2026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651760"/>
            <a:ext cx="10332720" cy="1645920"/>
          </a:xfrm>
          <a:prstGeom prst="rect">
            <a:avLst/>
          </a:prstGeom>
          <a:noFill/>
        </p:spPr>
        <p:txBody>
          <a:bodyPr wrap="square">
            <a:spAutoFit/>
          </a:bodyPr>
          <a:lstStyle/>
          <a:p>
            <a:pPr algn="l"/>
            <a:r>
              <a:rPr sz="3600" b="1">
                <a:solidFill>
                  <a:srgbClr val="FFFFFF"/>
                </a:solidFill>
              </a:rPr>
              <a:t>Bedankt</a:t>
            </a:r>
          </a:p>
          <a:p>
            <a:pPr algn="l"/>
            <a:r>
              <a:rPr sz="1800" b="0">
                <a:solidFill>
                  <a:srgbClr val="FFD8D8"/>
                </a:solidFill>
              </a:rPr>
              <a:t>Vragen?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1190</Words>
  <Application>Microsoft Office PowerPoint</Application>
  <PresentationFormat>Widescreen</PresentationFormat>
  <Paragraphs>152</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Zacharia Janssen</cp:lastModifiedBy>
  <cp:revision>3</cp:revision>
  <dcterms:created xsi:type="dcterms:W3CDTF">2013-01-27T09:14:16Z</dcterms:created>
  <dcterms:modified xsi:type="dcterms:W3CDTF">2026-06-07T23:16:04Z</dcterms:modified>
  <cp:category/>
</cp:coreProperties>
</file>