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6439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Welkom. Stel jezelf kort voor en geef de titel van het project. Rustig starten.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Patronale Life is een verzekeraar; hun documenten moeten juridisch correct en up to date zijn. Ik werkte solo, met Eduardo voor de richting, Erwin voor de technische inhoud, Dirk vanuit 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Een zin: de templates waren oud, gedupliceerd en moeilijk te beheren. Het doel was moderniseren en de wijzigingsflow automatiseren. Laat deze slide even staan, dit is de kern.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Het compliance-risico is voor een verzekeraar het belangrijkste. Duplicatie betekende dat een juridische wijziging op tien plaatsen moest, met kans op fouten. Mijn oplossing maakt er 1 plaats van.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Samenvatting van vier sprints. Niet alles opnoemen, de lijn tonen: overzicht, migreren, consolideren, automatiseren, kwaliteit borgen. Wijs naar de repo-screenshot.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Een visuele adempauze met de cijfers. Niet alle voorlezen, een paar uitlichten: 23 productlijnen in kaart, 202 templates die de CI bewaakt, 115 fondsfiches die ik liet genereren.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Belangrijk: ik werkte niet in isolatie. Elke sprint een demo en een mail. Het Boutique_44-voorbeeld toont dat ik aannames eerst aftoetste.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Leg de waarom uit, niet alleen de wat. Jinja sluit aan bij de bestaande renderer, GitHub Actions zet de automatisering bij de code, JIRA omdat het team daar al werkt.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Vier sprints, klassieke Scrum-ceremonies. Loop de tijdslijn kort af van fundament naar release. Vermeld dat de planning de Belgische werkweek en feestdagen volgt.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Schakel naar de demo. Vertel het als een verhaal vanuit Peter, niet als een opsomming. Adem, vertraag, neem het publiek mee.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Stel Peter voor als de eindgebruiker van de flow. Het contrast vroeger/nu maakt de meerwaarde voelbaar. Toon de echte JIRA-ticket screenshot rechts.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kern van de demo. Loop de vijf stappen rustig af, idealiter met JIRA en GitHub naast elkaar. Benadruk stap 3 (1 base ipv tien) en stap 4 (de CI ving echt mijn eigen fouten).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Twee tastbare resultaten: links de groene CI, rechts de digest-mail in Outlook. Toon dat de mail ook in Outlook desktop netjes rendert.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Persoonlijk brengen. Sterkste anekdote: mijn eigen CI ving twee fouten in mijn generator in dezelfde sprint. En de bewuste keuze om de attachment monitor niet zomaar live te zetten.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Eerlijk over wat er nog ligt. Toont dat het project verder leeft na mijn stage. De handover is het vertrekpunt.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Sluit af met dank aan Patronale Life, Eduardo, Erwin en Dirk. Nodig uit tot vragen. Blijf rustig, je kent het project beter dan wie ook in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411480" cy="685800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E30613"/>
                </a:solidFill>
              </a:rPr>
              <a:t>Templating &amp; Compliance</a:t>
            </a:r>
          </a:p>
          <a:p>
            <a:pPr algn="l"/>
            <a:r>
              <a:rPr sz="2200" b="0">
                <a:solidFill>
                  <a:srgbClr val="2B2B2B"/>
                </a:solidFill>
              </a:rPr>
              <a:t>Modernisering van de vFinance documenttemplates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515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66666"/>
                </a:solidFill>
              </a:rPr>
              <a:t>Student:  </a:t>
            </a:r>
            <a:r>
              <a:rPr sz="1300">
                <a:solidFill>
                  <a:srgbClr val="2B2B2B"/>
                </a:solidFill>
              </a:rPr>
              <a:t>Zacharia Janssen</a:t>
            </a:r>
          </a:p>
          <a:p>
            <a:r>
              <a:rPr sz="1300" b="1">
                <a:solidFill>
                  <a:srgbClr val="666666"/>
                </a:solidFill>
              </a:rPr>
              <a:t>Opleiding:  </a:t>
            </a:r>
            <a:r>
              <a:rPr sz="1300">
                <a:solidFill>
                  <a:srgbClr val="2B2B2B"/>
                </a:solidFill>
              </a:rPr>
              <a:t>Bachelor Toegepaste Informatica - VIVES (afstandsonderwijs)</a:t>
            </a:r>
          </a:p>
          <a:p>
            <a:r>
              <a:rPr sz="1300" b="1">
                <a:solidFill>
                  <a:srgbClr val="666666"/>
                </a:solidFill>
              </a:rPr>
              <a:t>Vak:  </a:t>
            </a:r>
            <a:r>
              <a:rPr sz="1300">
                <a:solidFill>
                  <a:srgbClr val="2B2B2B"/>
                </a:solidFill>
              </a:rPr>
              <a:t>IT-Project 1</a:t>
            </a:r>
          </a:p>
          <a:p>
            <a:r>
              <a:rPr sz="1300" b="1">
                <a:solidFill>
                  <a:srgbClr val="666666"/>
                </a:solidFill>
              </a:rPr>
              <a:t>Opdrachtgever:  </a:t>
            </a:r>
            <a:r>
              <a:rPr sz="1300">
                <a:solidFill>
                  <a:srgbClr val="2B2B2B"/>
                </a:solidFill>
              </a:rPr>
              <a:t>Patronale Life NV</a:t>
            </a:r>
          </a:p>
          <a:p>
            <a:r>
              <a:rPr sz="1300" b="1">
                <a:solidFill>
                  <a:srgbClr val="666666"/>
                </a:solidFill>
              </a:rPr>
              <a:t>Mentoren:  </a:t>
            </a:r>
            <a:r>
              <a:rPr sz="1300">
                <a:solidFill>
                  <a:srgbClr val="2B2B2B"/>
                </a:solidFill>
              </a:rPr>
              <a:t>Eduardo de Almeida Raposo, Erwin Geeraerts</a:t>
            </a:r>
          </a:p>
          <a:p>
            <a:r>
              <a:rPr sz="1300" b="1">
                <a:solidFill>
                  <a:srgbClr val="666666"/>
                </a:solidFill>
              </a:rPr>
              <a:t>Coach:  </a:t>
            </a:r>
            <a:r>
              <a:rPr sz="1300">
                <a:solidFill>
                  <a:srgbClr val="2B2B2B"/>
                </a:solidFill>
              </a:rPr>
              <a:t>Dirk Hostens</a:t>
            </a:r>
          </a:p>
          <a:p>
            <a:r>
              <a:rPr sz="1300" b="1">
                <a:solidFill>
                  <a:srgbClr val="666666"/>
                </a:solidFill>
              </a:rPr>
              <a:t>Academiejaar:  </a:t>
            </a:r>
            <a:r>
              <a:rPr sz="1300">
                <a:solidFill>
                  <a:srgbClr val="2B2B2B"/>
                </a:solidFill>
              </a:rPr>
              <a:t>2025-2026</a:t>
            </a:r>
          </a:p>
        </p:txBody>
      </p:sp>
      <p:pic>
        <p:nvPicPr>
          <p:cNvPr id="6" name="Picture 5" descr="Logo VIVES | Hogeschool VIVES">
            <a:extLst>
              <a:ext uri="{FF2B5EF4-FFF2-40B4-BE49-F238E27FC236}">
                <a16:creationId xmlns:a16="http://schemas.microsoft.com/office/drawing/2014/main" id="{754C57F1-46F7-CEB4-2930-80FE82839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632" y="73152"/>
            <a:ext cx="1956816" cy="19568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/>
            <a:r>
              <a:rPr sz="2600" b="1">
                <a:solidFill>
                  <a:srgbClr val="FFFFFF"/>
                </a:solidFill>
              </a:rPr>
              <a:t>De opdrachtgever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Patronale Life NV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666666"/>
                </a:solidFill>
              </a:rPr>
              <a:t>-  Belgische levensverzekeraar, gevestigd in Brussel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666666"/>
                </a:solidFill>
              </a:rPr>
              <a:t>-  Tak 21, 23 en 44, kredietverzekering en hypothecair krediet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666666"/>
                </a:solidFill>
              </a:rPr>
              <a:t>-  Documenten worden gegenereerd via vFinance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Mijn contactpersonen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666666"/>
                </a:solidFill>
              </a:rPr>
              <a:t>-  Eduardo de Almeida Raposo - Digital Transformation Manager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666666"/>
                </a:solidFill>
              </a:rPr>
              <a:t>-  Erwin Geeraerts - Business Analyst vFinance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666666"/>
                </a:solidFill>
              </a:rPr>
              <a:t>-  Dirk Hostens - stagebegeleider VIVES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  <p:pic>
        <p:nvPicPr>
          <p:cNvPr id="8" name="Picture 7" descr="Patronale Life verhoogt rentevoeten op TAK21 - Spaargids.be">
            <a:extLst>
              <a:ext uri="{FF2B5EF4-FFF2-40B4-BE49-F238E27FC236}">
                <a16:creationId xmlns:a16="http://schemas.microsoft.com/office/drawing/2014/main" id="{04D9801E-636B-FFC7-E5D7-855A09889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2706624"/>
            <a:ext cx="3127248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Wat - het doel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Het beheer van de vFinance documenttemplates</a:t>
            </a:r>
          </a:p>
          <a:p>
            <a:pPr algn="l"/>
            <a:r>
              <a:rPr sz="2800" b="1">
                <a:solidFill>
                  <a:srgbClr val="E30613"/>
                </a:solidFill>
              </a:rPr>
              <a:t>moderniseren en de wijzigingsflow automatiseren.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Waarom - probleem en meerwaarde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394960" cy="4754880"/>
          </a:xfrm>
          <a:prstGeom prst="roundRect">
            <a:avLst/>
          </a:prstGeom>
          <a:solidFill>
            <a:srgbClr val="FBECEC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l"/>
            <a:r>
              <a:rPr sz="1800" b="1">
                <a:solidFill>
                  <a:srgbClr val="E30613"/>
                </a:solidFill>
              </a:rPr>
              <a:t>Het probleem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Compliance-risico: verouderde juridische tekst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Duplicatie: elke SKM een eigen kopie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Geen versiebeheer per vFinance-versie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Handmatige intake van wijzigingen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ECF6EF"/>
          </a:solidFill>
          <a:ln w="1587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l"/>
            <a:r>
              <a:rPr sz="1800" b="1">
                <a:solidFill>
                  <a:srgbClr val="1E8E3E"/>
                </a:solidFill>
              </a:rPr>
              <a:t>De meerwaarde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Minder compliance-risico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1 plaats wijzigen ipv tien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Traceerbaarheid per vintage-branch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Geautomatiseerde, gecontroleerde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/>
            <a:r>
              <a:rPr sz="2600" b="1">
                <a:solidFill>
                  <a:srgbClr val="FFFFFF"/>
                </a:solidFill>
              </a:rPr>
              <a:t>Wat heb ik gerealiseerd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Inventaris van 23 productlijnen (~1850 bestanden)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Migratie van de wettelijke documenten naar Jinja HTML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Consolidatie van duplicaten via inheritance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Template Registry + compatibiliteitsmatrix per vintage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JSM-automatisering en een CI-pipeline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Handover-document voor het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A1C836-DC96-08C3-9CF7-1E77ED163C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873"/>
          <a:stretch>
            <a:fillRect/>
          </a:stretch>
        </p:blipFill>
        <p:spPr>
          <a:xfrm>
            <a:off x="6839324" y="1860804"/>
            <a:ext cx="4712596" cy="3776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Het project in cijfers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3383280" cy="201168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200" b="1">
                <a:solidFill>
                  <a:srgbClr val="E30613"/>
                </a:solidFill>
              </a:rPr>
              <a:t>4</a:t>
            </a:r>
          </a:p>
          <a:p>
            <a:pPr algn="ctr"/>
            <a:r>
              <a:rPr sz="1100" b="0">
                <a:solidFill>
                  <a:srgbClr val="2B2B2B"/>
                </a:solidFill>
              </a:rPr>
              <a:t>sprints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463040"/>
            <a:ext cx="3383280" cy="201168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200" b="1">
                <a:solidFill>
                  <a:srgbClr val="E30613"/>
                </a:solidFill>
              </a:rPr>
              <a:t>~200 u</a:t>
            </a:r>
          </a:p>
          <a:p>
            <a:pPr algn="ctr"/>
            <a:r>
              <a:rPr sz="1100" b="0">
                <a:solidFill>
                  <a:srgbClr val="2B2B2B"/>
                </a:solidFill>
              </a:rPr>
              <a:t>gewerkt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463040"/>
            <a:ext cx="3383280" cy="201168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200" b="1">
                <a:solidFill>
                  <a:srgbClr val="E30613"/>
                </a:solidFill>
              </a:rPr>
              <a:t>23</a:t>
            </a:r>
          </a:p>
          <a:p>
            <a:pPr algn="ctr"/>
            <a:r>
              <a:rPr sz="1100" b="0">
                <a:solidFill>
                  <a:srgbClr val="2B2B2B"/>
                </a:solidFill>
              </a:rPr>
              <a:t>productlijnen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40480"/>
            <a:ext cx="3383280" cy="201168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200" b="1">
                <a:solidFill>
                  <a:srgbClr val="E30613"/>
                </a:solidFill>
              </a:rPr>
              <a:t>202</a:t>
            </a:r>
          </a:p>
          <a:p>
            <a:pPr algn="ctr"/>
            <a:r>
              <a:rPr sz="1100" b="0">
                <a:solidFill>
                  <a:srgbClr val="2B2B2B"/>
                </a:solidFill>
              </a:rPr>
              <a:t>templates in 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3840480"/>
            <a:ext cx="3383280" cy="201168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200" b="1">
                <a:solidFill>
                  <a:srgbClr val="E30613"/>
                </a:solidFill>
              </a:rPr>
              <a:t>115</a:t>
            </a:r>
          </a:p>
          <a:p>
            <a:pPr algn="ctr"/>
            <a:r>
              <a:rPr sz="1100" b="0">
                <a:solidFill>
                  <a:srgbClr val="2B2B2B"/>
                </a:solidFill>
              </a:rPr>
              <a:t>fiches gegenereerd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840480"/>
            <a:ext cx="3383280" cy="201168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200" b="1">
                <a:solidFill>
                  <a:srgbClr val="E30613"/>
                </a:solidFill>
              </a:rPr>
              <a:t>5</a:t>
            </a:r>
          </a:p>
          <a:p>
            <a:pPr algn="ctr"/>
            <a:r>
              <a:rPr sz="1100" b="0">
                <a:solidFill>
                  <a:srgbClr val="2B2B2B"/>
                </a:solidFill>
              </a:rPr>
              <a:t>workflows / 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/>
            <a:r>
              <a:rPr sz="2600" b="1">
                <a:solidFill>
                  <a:srgbClr val="FFFFFF"/>
                </a:solidFill>
              </a:rPr>
              <a:t>Hoe - vereisten en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97976"/>
            <a:ext cx="1072591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900" b="1" dirty="0" err="1">
                <a:solidFill>
                  <a:srgbClr val="2B2B2B"/>
                </a:solidFill>
              </a:rPr>
              <a:t>Vereisten</a:t>
            </a:r>
            <a:r>
              <a:rPr sz="1900" b="1" dirty="0">
                <a:solidFill>
                  <a:srgbClr val="2B2B2B"/>
                </a:solidFill>
              </a:rPr>
              <a:t> </a:t>
            </a:r>
            <a:r>
              <a:rPr sz="1900" b="1" dirty="0" err="1">
                <a:solidFill>
                  <a:srgbClr val="2B2B2B"/>
                </a:solidFill>
              </a:rPr>
              <a:t>uit</a:t>
            </a:r>
            <a:r>
              <a:rPr sz="1900" b="1" dirty="0">
                <a:solidFill>
                  <a:srgbClr val="2B2B2B"/>
                </a:solidFill>
              </a:rPr>
              <a:t> de </a:t>
            </a:r>
            <a:r>
              <a:rPr sz="1900" b="1" dirty="0" err="1">
                <a:solidFill>
                  <a:srgbClr val="2B2B2B"/>
                </a:solidFill>
              </a:rPr>
              <a:t>bestaande</a:t>
            </a:r>
            <a:r>
              <a:rPr sz="1900" b="1" dirty="0">
                <a:solidFill>
                  <a:srgbClr val="2B2B2B"/>
                </a:solidFill>
              </a:rPr>
              <a:t> templates </a:t>
            </a:r>
            <a:r>
              <a:rPr sz="1900" b="1" dirty="0" err="1">
                <a:solidFill>
                  <a:srgbClr val="2B2B2B"/>
                </a:solidFill>
              </a:rPr>
              <a:t>en</a:t>
            </a:r>
            <a:r>
              <a:rPr sz="1900" b="1" dirty="0">
                <a:solidFill>
                  <a:srgbClr val="2B2B2B"/>
                </a:solidFill>
              </a:rPr>
              <a:t> </a:t>
            </a:r>
            <a:r>
              <a:rPr sz="1900" b="1" dirty="0" err="1">
                <a:solidFill>
                  <a:srgbClr val="2B2B2B"/>
                </a:solidFill>
              </a:rPr>
              <a:t>gesprekken</a:t>
            </a:r>
            <a:r>
              <a:rPr sz="1900" b="1" dirty="0">
                <a:solidFill>
                  <a:srgbClr val="2B2B2B"/>
                </a:solidFill>
              </a:rPr>
              <a:t> met Erwin</a:t>
            </a:r>
          </a:p>
          <a:p>
            <a:pPr marL="342900" indent="-34290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900" b="1" dirty="0">
                <a:solidFill>
                  <a:srgbClr val="2B2B2B"/>
                </a:solidFill>
              </a:rPr>
              <a:t>Backlog met user stories in </a:t>
            </a:r>
            <a:r>
              <a:rPr sz="1900" b="1" dirty="0" err="1">
                <a:solidFill>
                  <a:srgbClr val="2B2B2B"/>
                </a:solidFill>
              </a:rPr>
              <a:t>projectwerk</a:t>
            </a:r>
            <a:r>
              <a:rPr sz="1900" b="1" dirty="0">
                <a:solidFill>
                  <a:srgbClr val="2B2B2B"/>
                </a:solidFill>
              </a:rPr>
              <a:t>, </a:t>
            </a:r>
            <a:r>
              <a:rPr sz="1900" b="1" dirty="0" err="1">
                <a:solidFill>
                  <a:srgbClr val="2B2B2B"/>
                </a:solidFill>
              </a:rPr>
              <a:t>geprioriteerd</a:t>
            </a:r>
            <a:r>
              <a:rPr sz="1900" b="1" dirty="0">
                <a:solidFill>
                  <a:srgbClr val="2B2B2B"/>
                </a:solidFill>
              </a:rPr>
              <a:t> met Eduardo</a:t>
            </a:r>
          </a:p>
          <a:p>
            <a:pPr marL="342900" indent="-34290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900" b="1" dirty="0">
                <a:solidFill>
                  <a:srgbClr val="2B2B2B"/>
                </a:solidFill>
              </a:rPr>
              <a:t>Per sprint </a:t>
            </a:r>
            <a:r>
              <a:rPr sz="1900" b="1" dirty="0" err="1">
                <a:solidFill>
                  <a:srgbClr val="2B2B2B"/>
                </a:solidFill>
              </a:rPr>
              <a:t>een</a:t>
            </a:r>
            <a:r>
              <a:rPr sz="1900" b="1" dirty="0">
                <a:solidFill>
                  <a:srgbClr val="2B2B2B"/>
                </a:solidFill>
              </a:rPr>
              <a:t> demo </a:t>
            </a:r>
            <a:r>
              <a:rPr sz="1900" b="1" dirty="0" err="1">
                <a:solidFill>
                  <a:srgbClr val="2B2B2B"/>
                </a:solidFill>
              </a:rPr>
              <a:t>en</a:t>
            </a:r>
            <a:r>
              <a:rPr sz="1900" b="1" dirty="0">
                <a:solidFill>
                  <a:srgbClr val="2B2B2B"/>
                </a:solidFill>
              </a:rPr>
              <a:t> </a:t>
            </a:r>
            <a:r>
              <a:rPr sz="1900" b="1" dirty="0" err="1">
                <a:solidFill>
                  <a:srgbClr val="2B2B2B"/>
                </a:solidFill>
              </a:rPr>
              <a:t>een</a:t>
            </a:r>
            <a:r>
              <a:rPr sz="1900" b="1" dirty="0">
                <a:solidFill>
                  <a:srgbClr val="2B2B2B"/>
                </a:solidFill>
              </a:rPr>
              <a:t> status-mail </a:t>
            </a:r>
            <a:r>
              <a:rPr sz="1900" b="1" dirty="0" err="1">
                <a:solidFill>
                  <a:srgbClr val="2B2B2B"/>
                </a:solidFill>
              </a:rPr>
              <a:t>naar</a:t>
            </a:r>
            <a:r>
              <a:rPr sz="1900" b="1" dirty="0">
                <a:solidFill>
                  <a:srgbClr val="2B2B2B"/>
                </a:solidFill>
              </a:rPr>
              <a:t> de </a:t>
            </a:r>
            <a:r>
              <a:rPr sz="1900" b="1" dirty="0" err="1">
                <a:solidFill>
                  <a:srgbClr val="2B2B2B"/>
                </a:solidFill>
              </a:rPr>
              <a:t>opdrachtgever</a:t>
            </a:r>
            <a:endParaRPr sz="1900" b="1" dirty="0">
              <a:solidFill>
                <a:srgbClr val="2B2B2B"/>
              </a:solidFill>
            </a:endParaRPr>
          </a:p>
          <a:p>
            <a:pPr marL="342900" indent="-34290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900" b="1" dirty="0" err="1">
                <a:solidFill>
                  <a:srgbClr val="2B2B2B"/>
                </a:solidFill>
              </a:rPr>
              <a:t>Validatiesessies</a:t>
            </a:r>
            <a:r>
              <a:rPr sz="1900" b="1" dirty="0">
                <a:solidFill>
                  <a:srgbClr val="2B2B2B"/>
                </a:solidFill>
              </a:rPr>
              <a:t> met Erwin (SKM-</a:t>
            </a:r>
            <a:r>
              <a:rPr sz="1900" b="1" dirty="0" err="1">
                <a:solidFill>
                  <a:srgbClr val="2B2B2B"/>
                </a:solidFill>
              </a:rPr>
              <a:t>varianten</a:t>
            </a:r>
            <a:r>
              <a:rPr sz="1900" b="1" dirty="0">
                <a:solidFill>
                  <a:srgbClr val="2B2B2B"/>
                </a:solidFill>
              </a:rPr>
              <a:t>, </a:t>
            </a:r>
            <a:r>
              <a:rPr sz="1900" b="1" dirty="0" err="1">
                <a:solidFill>
                  <a:srgbClr val="2B2B2B"/>
                </a:solidFill>
              </a:rPr>
              <a:t>fondsfiches</a:t>
            </a:r>
            <a:r>
              <a:rPr sz="1900" b="1" dirty="0">
                <a:solidFill>
                  <a:srgbClr val="2B2B2B"/>
                </a:solidFill>
              </a:rPr>
              <a:t>)</a:t>
            </a:r>
          </a:p>
          <a:p>
            <a:pPr marL="342900" indent="-34290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900" b="1" dirty="0" err="1">
                <a:solidFill>
                  <a:srgbClr val="2B2B2B"/>
                </a:solidFill>
              </a:rPr>
              <a:t>Bijsturing</a:t>
            </a:r>
            <a:r>
              <a:rPr sz="1900" b="1" dirty="0">
                <a:solidFill>
                  <a:srgbClr val="2B2B2B"/>
                </a:solidFill>
              </a:rPr>
              <a:t> op feedback: Boutique_44 </a:t>
            </a:r>
            <a:r>
              <a:rPr sz="1900" b="1" dirty="0" err="1">
                <a:solidFill>
                  <a:srgbClr val="2B2B2B"/>
                </a:solidFill>
              </a:rPr>
              <a:t>bleek</a:t>
            </a:r>
            <a:r>
              <a:rPr sz="1900" b="1" dirty="0">
                <a:solidFill>
                  <a:srgbClr val="2B2B2B"/>
                </a:solidFill>
              </a:rPr>
              <a:t> </a:t>
            </a:r>
            <a:r>
              <a:rPr sz="1900" b="1" dirty="0" err="1">
                <a:solidFill>
                  <a:srgbClr val="2B2B2B"/>
                </a:solidFill>
              </a:rPr>
              <a:t>geen</a:t>
            </a:r>
            <a:r>
              <a:rPr sz="1900" b="1" dirty="0">
                <a:solidFill>
                  <a:srgbClr val="2B2B2B"/>
                </a:solidFill>
              </a:rPr>
              <a:t> </a:t>
            </a:r>
            <a:r>
              <a:rPr sz="1900" b="1" dirty="0" err="1">
                <a:solidFill>
                  <a:srgbClr val="2B2B2B"/>
                </a:solidFill>
              </a:rPr>
              <a:t>fondsfiches</a:t>
            </a:r>
            <a:r>
              <a:rPr sz="1900" b="1" dirty="0">
                <a:solidFill>
                  <a:srgbClr val="2B2B2B"/>
                </a:solidFill>
              </a:rPr>
              <a:t> </a:t>
            </a:r>
            <a:r>
              <a:rPr sz="1900" b="1" dirty="0" err="1">
                <a:solidFill>
                  <a:srgbClr val="2B2B2B"/>
                </a:solidFill>
              </a:rPr>
              <a:t>te</a:t>
            </a:r>
            <a:r>
              <a:rPr sz="1900" b="1" dirty="0">
                <a:solidFill>
                  <a:srgbClr val="2B2B2B"/>
                </a:solidFill>
              </a:rPr>
              <a:t> </a:t>
            </a:r>
            <a:r>
              <a:rPr sz="1900" b="1" dirty="0" err="1">
                <a:solidFill>
                  <a:srgbClr val="2B2B2B"/>
                </a:solidFill>
              </a:rPr>
              <a:t>hebben</a:t>
            </a:r>
            <a:endParaRPr sz="1900" b="1" dirty="0">
              <a:solidFill>
                <a:srgbClr val="2B2B2B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Hoe - 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383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2B2B2B"/>
                </a:solidFill>
              </a:rPr>
              <a:t>Jinja2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383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2B2B2B"/>
                </a:solidFill>
              </a:rPr>
              <a:t>Git / GitHub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383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2B2B2B"/>
                </a:solidFill>
              </a:rPr>
              <a:t>GitHub 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383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2B2B2B"/>
                </a:solidFill>
              </a:rPr>
              <a:t>JIRA REST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17520"/>
            <a:ext cx="3383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2B2B2B"/>
                </a:solidFill>
              </a:rPr>
              <a:t>Microsoft 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017520"/>
            <a:ext cx="3383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2B2B2B"/>
                </a:solidFill>
              </a:rPr>
              <a:t>SMTP (Office365)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3383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2B2B2B"/>
                </a:solidFill>
              </a:rPr>
              <a:t>Python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840480"/>
            <a:ext cx="33832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2B2B2B"/>
                </a:solidFill>
              </a:rPr>
              <a:t>Markdown / wiki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Waarom deze keuzes</a:t>
            </a:r>
          </a:p>
          <a:p>
            <a:pPr algn="l"/>
            <a:r>
              <a:rPr sz="1200" b="0">
                <a:solidFill>
                  <a:srgbClr val="666666"/>
                </a:solidFill>
              </a:rPr>
              <a:t>Jinja sluit aan bij de bestaande vFinance-renderer. GitHub Actions zet de automatisering bij de code.</a:t>
            </a:r>
          </a:p>
          <a:p>
            <a:pPr algn="l"/>
            <a:r>
              <a:rPr sz="1200" b="0">
                <a:solidFill>
                  <a:srgbClr val="666666"/>
                </a:solidFill>
              </a:rPr>
              <a:t>JIRA omdat het team daar al in werkt.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Hoe - aanpak (Scrum)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91840"/>
            <a:ext cx="10515600" cy="54864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2468880" cy="219456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E30613"/>
                </a:solidFill>
              </a:rPr>
              <a:t>Sprint 0</a:t>
            </a:r>
          </a:p>
          <a:p>
            <a:pPr algn="ctr"/>
            <a:r>
              <a:rPr sz="1100" b="0">
                <a:solidFill>
                  <a:srgbClr val="666666"/>
                </a:solidFill>
              </a:rPr>
              <a:t>30/3 - 11/4</a:t>
            </a:r>
          </a:p>
          <a:p>
            <a:pPr algn="ctr"/>
            <a:r>
              <a:rPr sz="1300" b="1">
                <a:solidFill>
                  <a:srgbClr val="2B2B2B"/>
                </a:solidFill>
              </a:rPr>
              <a:t>Fundament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2194560"/>
            <a:ext cx="2468880" cy="219456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E30613"/>
                </a:solidFill>
              </a:rPr>
              <a:t>Sprint 1</a:t>
            </a:r>
          </a:p>
          <a:p>
            <a:pPr algn="ctr"/>
            <a:r>
              <a:rPr sz="1100" b="0">
                <a:solidFill>
                  <a:srgbClr val="666666"/>
                </a:solidFill>
              </a:rPr>
              <a:t>14/4 - 25/4</a:t>
            </a:r>
          </a:p>
          <a:p>
            <a:pPr algn="ctr"/>
            <a:r>
              <a:rPr sz="1300" b="1">
                <a:solidFill>
                  <a:srgbClr val="2B2B2B"/>
                </a:solidFill>
              </a:rPr>
              <a:t>Migratie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19456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E30613"/>
                </a:solidFill>
              </a:rPr>
              <a:t>Sprint 2</a:t>
            </a:r>
          </a:p>
          <a:p>
            <a:pPr algn="ctr"/>
            <a:r>
              <a:rPr sz="1100" b="0">
                <a:solidFill>
                  <a:srgbClr val="666666"/>
                </a:solidFill>
              </a:rPr>
              <a:t>28/4 - 8/5</a:t>
            </a:r>
          </a:p>
          <a:p>
            <a:pPr algn="ctr"/>
            <a:r>
              <a:rPr sz="1300" b="1">
                <a:solidFill>
                  <a:srgbClr val="2B2B2B"/>
                </a:solidFill>
              </a:rPr>
              <a:t>Consolidatie + JSM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2194560"/>
            <a:ext cx="2468880" cy="219456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E30613"/>
                </a:solidFill>
              </a:rPr>
              <a:t>Sprint 3</a:t>
            </a:r>
          </a:p>
          <a:p>
            <a:pPr algn="ctr"/>
            <a:r>
              <a:rPr sz="1100" b="0">
                <a:solidFill>
                  <a:srgbClr val="666666"/>
                </a:solidFill>
              </a:rPr>
              <a:t>11/5 - 22/5</a:t>
            </a:r>
          </a:p>
          <a:p>
            <a:pPr algn="ctr"/>
            <a:r>
              <a:rPr sz="1300" b="1">
                <a:solidFill>
                  <a:srgbClr val="2B2B2B"/>
                </a:solidFill>
              </a:rPr>
              <a:t>CI +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</a:rPr>
              <a:t>Agile/Scrum, solo, tijdens de werkuren bij Patronale Life. ~200h over 4 sprints van 2 weken.</a:t>
            </a:r>
          </a:p>
          <a:p>
            <a:pPr algn="l"/>
            <a:r>
              <a:rPr sz="1200" b="0">
                <a:solidFill>
                  <a:srgbClr val="666666"/>
                </a:solidFill>
              </a:rPr>
              <a:t>Per sprint: planning, daily standups, demo en retrospective. Tooling: projectwerk, GitHub, wiki.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Demo</a:t>
            </a:r>
          </a:p>
          <a:p>
            <a:pPr algn="l"/>
            <a:r>
              <a:rPr sz="1800" b="0">
                <a:solidFill>
                  <a:srgbClr val="FFD8D8"/>
                </a:solidFill>
              </a:rPr>
              <a:t>Een dag uit het leven van Peter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Persona: Peter, business analyst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852160" cy="438912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3108960" y="1783080"/>
            <a:ext cx="1005840" cy="10058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486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B2B2B"/>
                </a:solidFill>
              </a:rPr>
              <a:t>Peter</a:t>
            </a:r>
          </a:p>
          <a:p>
            <a:pPr algn="ctr"/>
            <a:r>
              <a:rPr sz="1200" b="0">
                <a:solidFill>
                  <a:srgbClr val="666666"/>
                </a:solidFill>
              </a:rPr>
              <a:t>Business analyst vFinance</a:t>
            </a:r>
          </a:p>
          <a:p>
            <a:pPr algn="ctr"/>
            <a:endParaRPr sz="1200" b="0">
              <a:solidFill>
                <a:srgbClr val="666666"/>
              </a:solidFill>
            </a:endParaRPr>
          </a:p>
          <a:p>
            <a:pPr algn="ctr"/>
            <a:r>
              <a:rPr sz="1300" b="0">
                <a:solidFill>
                  <a:srgbClr val="2B2B2B"/>
                </a:solidFill>
              </a:rPr>
              <a:t>Merkt dat de juridische tekst in een ESIS-template moet wijzigen.</a:t>
            </a:r>
          </a:p>
          <a:p>
            <a:pPr algn="ctr"/>
            <a:r>
              <a:rPr sz="1200" b="0">
                <a:solidFill>
                  <a:srgbClr val="666666"/>
                </a:solidFill>
              </a:rPr>
              <a:t>Vroeger: een mail, tien handmatige kopieen, geen spoor.</a:t>
            </a:r>
          </a:p>
          <a:p>
            <a:pPr algn="ctr"/>
            <a:r>
              <a:rPr sz="1200" b="1">
                <a:solidFill>
                  <a:srgbClr val="E30613"/>
                </a:solidFill>
              </a:rPr>
              <a:t>Nu: hij maakt een GIT-ticket aan in JIRA Service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63040"/>
            <a:ext cx="4846320" cy="4389120"/>
          </a:xfrm>
          <a:prstGeom prst="roundRect">
            <a:avLst/>
          </a:prstGeom>
          <a:solidFill>
            <a:srgbClr val="EEEEF0"/>
          </a:solidFill>
          <a:ln w="19050">
            <a:solidFill>
              <a:srgbClr val="9A9A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900" b="0" dirty="0">
              <a:solidFill>
                <a:srgbClr val="A8A8A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FEDC80-7A57-55AD-3DA4-E2E6D96BC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396" y="2559289"/>
            <a:ext cx="4347644" cy="2213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Demo - de geautomatiseerde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965960" cy="1554480"/>
          </a:xfrm>
          <a:prstGeom prst="round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GIT-ticket - Peter maakt een ticket</a:t>
            </a:r>
          </a:p>
        </p:txBody>
      </p:sp>
      <p:sp>
        <p:nvSpPr>
          <p:cNvPr id="5" name="Chevron 4"/>
          <p:cNvSpPr/>
          <p:nvPr/>
        </p:nvSpPr>
        <p:spPr>
          <a:xfrm>
            <a:off x="2606040" y="1874520"/>
            <a:ext cx="365760" cy="548640"/>
          </a:xfrm>
          <a:prstGeom prst="chevron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971800" y="1371600"/>
            <a:ext cx="1965960" cy="1554480"/>
          </a:xfrm>
          <a:prstGeom prst="round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Branch - outbound maakt branch</a:t>
            </a:r>
          </a:p>
        </p:txBody>
      </p:sp>
      <p:sp>
        <p:nvSpPr>
          <p:cNvPr id="7" name="Chevron 6"/>
          <p:cNvSpPr/>
          <p:nvPr/>
        </p:nvSpPr>
        <p:spPr>
          <a:xfrm>
            <a:off x="4937760" y="1874520"/>
            <a:ext cx="365760" cy="548640"/>
          </a:xfrm>
          <a:prstGeom prst="chevron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1965960" cy="1554480"/>
          </a:xfrm>
          <a:prstGeom prst="round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Wijziging - 1 base ipv tien</a:t>
            </a:r>
          </a:p>
        </p:txBody>
      </p:sp>
      <p:sp>
        <p:nvSpPr>
          <p:cNvPr id="9" name="Chevron 8"/>
          <p:cNvSpPr/>
          <p:nvPr/>
        </p:nvSpPr>
        <p:spPr>
          <a:xfrm>
            <a:off x="7269480" y="1874520"/>
            <a:ext cx="365760" cy="548640"/>
          </a:xfrm>
          <a:prstGeom prst="chevron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35240" y="1371600"/>
            <a:ext cx="1965960" cy="1554480"/>
          </a:xfrm>
          <a:prstGeom prst="round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PR + CI - CI valideert templates</a:t>
            </a:r>
          </a:p>
        </p:txBody>
      </p:sp>
      <p:sp>
        <p:nvSpPr>
          <p:cNvPr id="11" name="Chevron 10"/>
          <p:cNvSpPr/>
          <p:nvPr/>
        </p:nvSpPr>
        <p:spPr>
          <a:xfrm>
            <a:off x="9601200" y="1874520"/>
            <a:ext cx="365760" cy="548640"/>
          </a:xfrm>
          <a:prstGeom prst="chevron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966960" y="1371600"/>
            <a:ext cx="1965960" cy="1554480"/>
          </a:xfrm>
          <a:prstGeom prst="round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Digest - team ziet het s morgens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83280"/>
            <a:ext cx="7772400" cy="2651760"/>
          </a:xfrm>
          <a:prstGeom prst="roundRect">
            <a:avLst/>
          </a:prstGeom>
          <a:solidFill>
            <a:srgbClr val="EEEEF0"/>
          </a:solidFill>
          <a:ln w="19050">
            <a:solidFill>
              <a:srgbClr val="9A9A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900" b="0" dirty="0">
              <a:solidFill>
                <a:srgbClr val="A8A8A8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B054487-3A35-2AF2-7F9B-8F9F19EA6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145" y="3476856"/>
            <a:ext cx="5315710" cy="24646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Demo - resultaat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CI valideert elke push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94960" cy="4206240"/>
          </a:xfrm>
          <a:prstGeom prst="roundRect">
            <a:avLst/>
          </a:prstGeom>
          <a:solidFill>
            <a:srgbClr val="EEEEF0"/>
          </a:solidFill>
          <a:ln w="19050">
            <a:solidFill>
              <a:srgbClr val="9A9A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900" b="0" dirty="0">
              <a:solidFill>
                <a:srgbClr val="A8A8A8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Tweetalige digest-mail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94960" cy="4206240"/>
          </a:xfrm>
          <a:prstGeom prst="roundRect">
            <a:avLst/>
          </a:prstGeom>
          <a:solidFill>
            <a:srgbClr val="EEEEF0"/>
          </a:solidFill>
          <a:ln w="19050">
            <a:solidFill>
              <a:srgbClr val="9A9A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900" b="0" dirty="0">
              <a:solidFill>
                <a:srgbClr val="A8A8A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F385EB-4310-8341-12D0-9DCCD741E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456" y="2658957"/>
            <a:ext cx="4712208" cy="21801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C303AFB-56BC-2667-968E-D61684A97E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925" y="2395433"/>
            <a:ext cx="4936949" cy="27072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/>
            <a:r>
              <a:rPr sz="2600" b="1">
                <a:solidFill>
                  <a:srgbClr val="FFFFFF"/>
                </a:solidFill>
              </a:rPr>
              <a:t>Wat heb ik geleerd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Aannames eerst aftoetsen bespaart veel herwerk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Kwaliteitsinfrastructuur (CI) hoort vroeg in een project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Een generator is sneller en minder foutgevoelig dan handwerk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Destructieve automatisering niet live zonder sign-off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Transparant communiceren over wat niet af is wekt vertrouwen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rtlCol="0" anchor="ctr"/>
          <a:lstStyle/>
          <a:p>
            <a:pPr algn="l"/>
            <a:r>
              <a:rPr sz="2600" b="1">
                <a:solidFill>
                  <a:srgbClr val="FFFFFF"/>
                </a:solidFill>
              </a:rPr>
              <a:t>Hoe verder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Resterende productlijnen migreren volgens hetzelfde patroon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Attachment monitor live op een service-account na finale go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Aparte FR-base voor de SIData-fiches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Template-ticket lifecycle verder automatiseren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2B2B2B"/>
                </a:solidFill>
              </a:rPr>
              <a:t>Overdracht aan het vFinance team via het handover-document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</a:rPr>
              <a:t>Templating &amp; Compliance  -  Zacharia Janssen  -  ITP1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Bedankt</a:t>
            </a:r>
          </a:p>
          <a:p>
            <a:pPr algn="l"/>
            <a:r>
              <a:rPr sz="1800" b="0">
                <a:solidFill>
                  <a:srgbClr val="FFD8D8"/>
                </a:solidFill>
              </a:rPr>
              <a:t>Vragen?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1190</Words>
  <Application>Microsoft Office PowerPoint</Application>
  <PresentationFormat>Widescreen</PresentationFormat>
  <Paragraphs>152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Zacharia Janssen</cp:lastModifiedBy>
  <cp:revision>3</cp:revision>
  <dcterms:created xsi:type="dcterms:W3CDTF">2013-01-27T09:14:16Z</dcterms:created>
  <dcterms:modified xsi:type="dcterms:W3CDTF">2026-06-07T23:16:04Z</dcterms:modified>
  <cp:category/>
</cp:coreProperties>
</file>